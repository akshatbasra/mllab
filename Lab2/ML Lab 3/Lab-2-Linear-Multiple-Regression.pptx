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9" r:id="rId4"/>
    <p:sldId id="260" r:id="rId5"/>
    <p:sldId id="257" r:id="rId6"/>
    <p:sldId id="258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F36C6-7AE8-46C7-81F4-832AFC6B41C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D6E91-ACCC-469B-99CF-4DA72278C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9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system-ui"/>
              </a:rPr>
              <a:t>canada_per_capita_income.csv , salary.csv, 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Inter"/>
              </a:rPr>
              <a:t>hiring.csv. 1000_companies.csv</a:t>
            </a:r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D6E91-ACCC-469B-99CF-4DA72278C9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08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A694-8539-4F98-981A-1EDA732D5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36B19-6608-405C-A354-829FBF355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3939-EFAA-421E-B7E5-91DBE405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5FF7-2427-4F17-97B1-8FFF2252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21751-4937-461F-87F9-7A392360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0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BDF8-4ACF-424B-880E-E08537D9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80ACF-E98E-4522-A30A-597B8DB6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9A2D5-96B9-4358-8FE1-8D4FD3B9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F421-5737-440A-A2F0-49AAAAEB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BC25-1FD5-4A09-885A-DD27ABB4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98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59C7-B2B8-4A92-8112-CDCA3ED7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DB073-4405-4769-9A58-E9838CAB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B822-CA5B-49B6-9C4B-B6BDDAA1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12456-FA02-4535-9110-EF3A70696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CB938-EBAC-475B-B511-55C24534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2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4E19-18F7-4B0F-9E44-CEC0A592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C5B0-0AF3-4706-A197-680544366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93FA1-BC97-4F2C-9CB5-47CEB7A0E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276F9-6CCE-426B-AED3-2DD8D211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3BFAE-76B3-4F59-A8BF-45947DC6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9FDEA-BB6E-4B29-A2B7-2AB7572B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99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8B14-891D-4CC9-BD47-C32827F1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1E292-DF48-4B89-B38D-B9C9C7E04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0D85D-9BCE-4FFD-92C3-A58B04F4F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28CBB-4B92-4278-A207-3687DD7AF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BC5B4-254A-4C79-BB42-A1C979E3B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76D99-9C50-4E40-81C6-D580AD8B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97BB3-5252-4580-BF5A-1BAC3F77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352F7-CF7B-4358-9DD6-8E4000CC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41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899B6-ED16-47D8-89A0-F7CC4E27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2B694-695F-4276-8004-647F2B9AB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CCC71-0410-4674-81A8-B8D77542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77572-E25D-4CAE-9589-8A86264A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61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38B43-40F0-4F55-81FA-77DBCB0F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B09EFB-2F5B-4972-AB24-C8ECFA6C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3FD99-4512-4131-B177-ADE8D052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6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4683-3BC3-4C6B-A4DE-11DBDBE7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9C90-CA54-4E6A-AAA0-0C4ADE315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EED50-FDB7-4B23-9F14-936C5BCEC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9790C-66EA-485D-BEA5-C1FD97D6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9E974-82F7-4C54-B79D-FE7087E8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CE4DD-1EDC-4F38-9C56-1FD601BD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62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9542-2554-4248-B1D8-ECAE7C63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D59A76-CC0B-4B13-BF93-D249D725B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CB673-2776-4C52-BE09-89F312513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2956C-6220-4C59-9ED9-7A57665C9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32B89-9BFE-4B96-8C07-428EF8A6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2A7D2-D55C-4CF4-A4C7-D0C4D09D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4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6811-2B28-4BB8-B184-45AC8EAF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B1D50-D297-4B2F-81E0-329706A71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DF1F6-3107-4317-BA04-F5A74FE1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0489-A968-4FA0-B74F-6E64D3C5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B6C9-321E-4DF2-8D5F-A422DD5F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6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D424D-BDD2-4D9F-9640-C31C2E9FE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47B7C-4D02-41A8-9F99-2553B76BC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0CFCF-05F5-4700-AAC9-F7186397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6FF0-0765-4111-BB57-3670D06C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258ED-0A80-46F1-82ED-E5888E11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4D321-0C74-4D58-942A-F2CEED85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754D4-104B-4C9B-B5A5-8F983A55A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4804-7137-48A1-B08B-285D17B88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7753-906A-48E5-A75C-DEB3356F715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C441-F3D6-4AD6-965E-D376F2627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E62A-EB95-4D0D-A98D-CBE84FE9F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3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0C46-0C0B-4DD9-BC5E-437381FDF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Lab-2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2331F-ADDF-4021-8C3E-2657BB55D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Implement Linear and Multi-Linear Regression algorithm using appropriate dataset</a:t>
            </a:r>
          </a:p>
        </p:txBody>
      </p:sp>
    </p:spTree>
    <p:extLst>
      <p:ext uri="{BB962C8B-B14F-4D97-AF65-F5344CB8AC3E}">
        <p14:creationId xmlns:p14="http://schemas.microsoft.com/office/powerpoint/2010/main" val="346418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9795-AC59-43CD-9E63-8B5C5C28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A646-43AF-4B7D-944C-F0F88DF4B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Linear regression is defined as an algorithm that provides a linear relationship between an independent variable and a dependent variable to predict the outcome of future events. </a:t>
            </a:r>
          </a:p>
          <a:p>
            <a:pPr algn="just"/>
            <a:r>
              <a:rPr lang="en-US" dirty="0"/>
              <a:t>It is a statistical method used in data science and machine learning for predictive analysis. </a:t>
            </a:r>
          </a:p>
          <a:p>
            <a:pPr algn="just"/>
            <a:r>
              <a:rPr lang="en-US" dirty="0"/>
              <a:t>Linear regression is a supervised learning algorithm that simulates a mathematical relationship between variables and makes predictions for continuous or numeric variables such as sales, salary, age, product price, etc.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77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4332-7488-4326-A409-059AFBC6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 write in Observation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D6E6C-7E2C-4218-8E9D-E0F709622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 switching on the Desktop systems in the lab, at the start of the lab, you should write following in your observation book.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Solving the following Linear Regression Problem using Matrix approach.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404040"/>
                </a:solidFill>
                <a:effectLst/>
                <a:latin typeface="Inter"/>
              </a:rPr>
              <a:t>Find Linear Regression of the data of week and product sales.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2B781-A875-4BEF-9F31-FFE32CFC8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61" y="4171061"/>
            <a:ext cx="3069368" cy="2321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2CB195-E839-4D42-ABFD-AC033EF4B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638" y="4540624"/>
            <a:ext cx="4401164" cy="1495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D68645-52F1-4311-868A-92C5686C7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02" y="5005823"/>
            <a:ext cx="2438740" cy="790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AC76D-1237-45DC-AD37-6AD1AEF63454}"/>
              </a:ext>
            </a:extLst>
          </p:cNvPr>
          <p:cNvSpPr txBox="1"/>
          <p:nvPr/>
        </p:nvSpPr>
        <p:spPr>
          <a:xfrm>
            <a:off x="4098429" y="521649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β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893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B1D-F1D8-4AB6-9FD8-296012DF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71594-C9B3-4D34-81E6-70A70E5E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Google Co-lab account, execute following sample python program in the notebook.</a:t>
            </a:r>
            <a:endParaRPr lang="en-IN" dirty="0"/>
          </a:p>
          <a:p>
            <a:r>
              <a:rPr lang="en-US" dirty="0"/>
              <a:t>linear_regression_housing_area_price.py </a:t>
            </a:r>
          </a:p>
          <a:p>
            <a:r>
              <a:rPr lang="en-IN" dirty="0"/>
              <a:t>multiple_lr_homeprice.py</a:t>
            </a:r>
          </a:p>
        </p:txBody>
      </p:sp>
    </p:spTree>
    <p:extLst>
      <p:ext uri="{BB962C8B-B14F-4D97-AF65-F5344CB8AC3E}">
        <p14:creationId xmlns:p14="http://schemas.microsoft.com/office/powerpoint/2010/main" val="197235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E56D-0A98-46F2-B14A-9713528D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 Implementation – 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22C3-4F16-4547-BFC8-56BC1BF3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404040"/>
                </a:solidFill>
                <a:latin typeface="Inter"/>
              </a:rPr>
              <a:t>Write Python code to implement the following </a:t>
            </a:r>
            <a:endParaRPr lang="en-US" b="0" i="0" dirty="0">
              <a:effectLst/>
              <a:latin typeface="system-ui"/>
            </a:endParaRPr>
          </a:p>
          <a:p>
            <a:pPr marL="514350" indent="-514350">
              <a:buAutoNum type="arabicPeriod"/>
            </a:pPr>
            <a:r>
              <a:rPr lang="en-US" b="0" i="0" dirty="0">
                <a:effectLst/>
                <a:latin typeface="system-ui"/>
              </a:rPr>
              <a:t>Predict </a:t>
            </a:r>
            <a:r>
              <a:rPr lang="en-US" b="0" i="0" dirty="0" err="1">
                <a:effectLst/>
                <a:latin typeface="system-ui"/>
              </a:rPr>
              <a:t>canada's</a:t>
            </a:r>
            <a:r>
              <a:rPr lang="en-US" b="0" i="0" dirty="0">
                <a:effectLst/>
                <a:latin typeface="system-ui"/>
              </a:rPr>
              <a:t> per capita income in year 2020. Use the data file canada_per_capita_income.csv file. If required, apply the necessary data processing steps. Using this build a regression model and predict the per capita income fo</a:t>
            </a:r>
            <a:r>
              <a:rPr lang="en-US" dirty="0">
                <a:latin typeface="system-ui"/>
              </a:rPr>
              <a:t>r </a:t>
            </a:r>
            <a:r>
              <a:rPr lang="en-US" b="0" i="0" dirty="0" err="1">
                <a:effectLst/>
                <a:latin typeface="system-ui"/>
              </a:rPr>
              <a:t>canadian</a:t>
            </a:r>
            <a:r>
              <a:rPr lang="en-US" b="0" i="0" dirty="0">
                <a:effectLst/>
                <a:latin typeface="system-ui"/>
              </a:rPr>
              <a:t> citizens in year 2020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0" i="0" dirty="0">
                <a:effectLst/>
                <a:latin typeface="system-ui"/>
              </a:rPr>
              <a:t>Predict Salary of the employee. Use the data file salary.csv file. If required, apply the necessary data processing steps. Using this build a regression model and predict the salary of the employee with 12 years of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76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3A9B-348D-43CF-816D-B779065D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0CA6B-7EE7-4558-BFF0-315AA9171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Google Sans"/>
              </a:rPr>
              <a:t>Multiple linear regression refers to </a:t>
            </a:r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a statistical technique that uses two or more independent variables to predict the outcome of a dependent variable</a:t>
            </a:r>
            <a:r>
              <a:rPr lang="en-US" sz="2800" b="0" i="0" dirty="0">
                <a:solidFill>
                  <a:srgbClr val="1F1F1F"/>
                </a:solidFill>
                <a:effectLst/>
                <a:latin typeface="Google Sans"/>
              </a:rPr>
              <a:t>. 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Linear Regression with Multiple variables or </a:t>
            </a:r>
            <a:r>
              <a:rPr lang="en-US" sz="2800" dirty="0" err="1">
                <a:solidFill>
                  <a:srgbClr val="1F1F1F"/>
                </a:solidFill>
                <a:latin typeface="Google Sans"/>
              </a:rPr>
              <a:t>Maltivariate</a:t>
            </a:r>
            <a:r>
              <a:rPr lang="en-US" sz="2800" dirty="0">
                <a:solidFill>
                  <a:srgbClr val="1F1F1F"/>
                </a:solidFill>
                <a:latin typeface="Google Sans"/>
              </a:rPr>
              <a:t> Regression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88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2F57-3B10-48AC-A66E-824F17C4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 Implementation – Multiple 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3DBA-E8F3-4CFE-8862-1F2406BC5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</a:rPr>
              <a:t>Write Python code to implement the following</a:t>
            </a:r>
          </a:p>
          <a:p>
            <a:pPr algn="l"/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Considering the data file </a:t>
            </a:r>
            <a:r>
              <a:rPr lang="en-US" sz="1800" b="1" i="0" dirty="0">
                <a:solidFill>
                  <a:srgbClr val="404040"/>
                </a:solidFill>
                <a:effectLst/>
                <a:latin typeface="Inter"/>
              </a:rPr>
              <a:t>hiring.csv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. </a:t>
            </a:r>
            <a:r>
              <a:rPr lang="en-US" sz="1800" b="0" i="0" dirty="0">
                <a:effectLst/>
                <a:latin typeface="system-ui"/>
              </a:rPr>
              <a:t>The file contains hiring statics for a firm such as experience of candidate, his written test score and personal interview score. Based on these 3 factors, HR will decide the salary. Given this data, you need to build a Multiple Linear Regression model for HR department that can help them decide salaries for future candidates. Using this predict salaries for following candidates,</a:t>
            </a:r>
          </a:p>
          <a:p>
            <a:pPr lvl="1"/>
            <a:r>
              <a:rPr lang="en-US" sz="1600" b="1" i="0" dirty="0">
                <a:effectLst/>
                <a:latin typeface="system-ui"/>
              </a:rPr>
              <a:t>2 </a:t>
            </a:r>
            <a:r>
              <a:rPr lang="en-US" sz="1600" b="1" i="0" dirty="0" err="1">
                <a:effectLst/>
                <a:latin typeface="system-ui"/>
              </a:rPr>
              <a:t>yr</a:t>
            </a:r>
            <a:r>
              <a:rPr lang="en-US" sz="1600" b="1" i="0" dirty="0">
                <a:effectLst/>
                <a:latin typeface="system-ui"/>
              </a:rPr>
              <a:t> experience, 9 test score, 6 interview score</a:t>
            </a:r>
            <a:endParaRPr lang="en-US" sz="1600" b="0" i="0" dirty="0">
              <a:effectLst/>
              <a:latin typeface="system-ui"/>
            </a:endParaRPr>
          </a:p>
          <a:p>
            <a:pPr lvl="1"/>
            <a:r>
              <a:rPr lang="en-US" sz="1600" b="1" i="0" dirty="0">
                <a:effectLst/>
                <a:latin typeface="system-ui"/>
              </a:rPr>
              <a:t>12 </a:t>
            </a:r>
            <a:r>
              <a:rPr lang="en-US" sz="1600" b="1" i="0" dirty="0" err="1">
                <a:effectLst/>
                <a:latin typeface="system-ui"/>
              </a:rPr>
              <a:t>yr</a:t>
            </a:r>
            <a:r>
              <a:rPr lang="en-US" sz="1600" b="1" i="0" dirty="0">
                <a:effectLst/>
                <a:latin typeface="system-ui"/>
              </a:rPr>
              <a:t> experience, 10 test score, 10 interview score</a:t>
            </a:r>
          </a:p>
          <a:p>
            <a:pPr algn="l"/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Considering the data file </a:t>
            </a:r>
            <a:r>
              <a:rPr lang="en-US" sz="1800" b="1" i="0" dirty="0">
                <a:solidFill>
                  <a:srgbClr val="404040"/>
                </a:solidFill>
                <a:effectLst/>
                <a:latin typeface="Inter"/>
              </a:rPr>
              <a:t>1000_companies.csv</a:t>
            </a:r>
            <a:r>
              <a:rPr lang="en-US" sz="1800" b="0" i="0" dirty="0">
                <a:solidFill>
                  <a:srgbClr val="404040"/>
                </a:solidFill>
                <a:effectLst/>
                <a:latin typeface="Inter"/>
              </a:rPr>
              <a:t>. </a:t>
            </a:r>
            <a:r>
              <a:rPr lang="en-US" sz="1800" b="0" i="0" dirty="0">
                <a:effectLst/>
                <a:latin typeface="system-ui"/>
              </a:rPr>
              <a:t>The file contains profit statics for a firm such as R&amp;D Spend, Administration, Marketing Spend and State. Based on these four factors build a Multiple Linear Regression model to predict the profit. Using this predict profit for following,</a:t>
            </a:r>
          </a:p>
          <a:p>
            <a:pPr lvl="1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91694.48</a:t>
            </a:r>
            <a:r>
              <a:rPr lang="en-IN" sz="1000" b="1" dirty="0"/>
              <a:t>  </a:t>
            </a:r>
            <a:r>
              <a:rPr lang="en-US" sz="1600" b="1" i="0" dirty="0">
                <a:effectLst/>
                <a:latin typeface="system-ui"/>
              </a:rPr>
              <a:t>R&amp;D Spend, </a:t>
            </a:r>
            <a:r>
              <a:rPr lang="en-I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5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15841.3</a:t>
            </a:r>
            <a:r>
              <a:rPr lang="en-IN" sz="1200" b="1" dirty="0"/>
              <a:t>  </a:t>
            </a:r>
            <a:r>
              <a:rPr lang="en-US" sz="1600" b="1" i="0" dirty="0">
                <a:effectLst/>
                <a:latin typeface="system-ui"/>
              </a:rPr>
              <a:t>Administration, 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11931.24</a:t>
            </a:r>
            <a:r>
              <a:rPr lang="en-IN" sz="1200" b="1" dirty="0"/>
              <a:t>  </a:t>
            </a:r>
            <a:r>
              <a:rPr lang="en-US" sz="1600" b="1" i="0" dirty="0">
                <a:effectLst/>
                <a:latin typeface="system-ui"/>
              </a:rPr>
              <a:t>Marketing Spend, 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Florida </a:t>
            </a:r>
            <a:r>
              <a:rPr lang="en-US" sz="1600" b="1" i="0" dirty="0">
                <a:effectLst/>
                <a:latin typeface="system-ui"/>
              </a:rPr>
              <a:t>State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</a:rPr>
              <a:t> </a:t>
            </a:r>
            <a:endParaRPr lang="en-US" sz="1800" b="0" i="0" dirty="0">
              <a:effectLst/>
              <a:latin typeface="system-ui"/>
            </a:endParaRPr>
          </a:p>
          <a:p>
            <a:r>
              <a:rPr lang="en-IN" sz="1800" dirty="0"/>
              <a:t>Note: </a:t>
            </a:r>
            <a:r>
              <a:rPr lang="en-US" sz="1800" b="0" i="0" dirty="0">
                <a:effectLst/>
                <a:latin typeface="system-ui"/>
              </a:rPr>
              <a:t>If required, apply the necessary data processing steps to data files.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8897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F1A7-B14E-4260-AE37-544729E1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Upload to </a:t>
            </a:r>
            <a:r>
              <a:rPr lang="en-US" dirty="0" err="1"/>
              <a:t>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5A1EA-7FE4-4B44-864D-43DFFCA8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</a:t>
            </a:r>
            <a:r>
              <a:rPr lang="en-US" dirty="0" err="1"/>
              <a:t>github</a:t>
            </a:r>
            <a:r>
              <a:rPr lang="en-US" dirty="0"/>
              <a:t> account create folder “6thSem-ML-Lab” and upload  your python notebook worked on Linear and Multi Linear regression </a:t>
            </a:r>
            <a:r>
              <a:rPr lang="en-US" dirty="0" err="1"/>
              <a:t>modelss</a:t>
            </a:r>
            <a:r>
              <a:rPr lang="en-US" dirty="0"/>
              <a:t> with file name as “</a:t>
            </a:r>
            <a:r>
              <a:rPr lang="en-US" dirty="0">
                <a:solidFill>
                  <a:srgbClr val="0000CC"/>
                </a:solidFill>
              </a:rPr>
              <a:t>yourUSN</a:t>
            </a:r>
            <a:r>
              <a:rPr lang="en-US" dirty="0"/>
              <a:t>_Lab-2-Linear-Multiple-Regression. </a:t>
            </a:r>
            <a:r>
              <a:rPr lang="en-US" dirty="0" err="1"/>
              <a:t>ipynb</a:t>
            </a:r>
            <a:r>
              <a:rPr lang="en-US" dirty="0"/>
              <a:t>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79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A102-B666-434F-AFAC-EDAC9DFB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write in the Observation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AA28-0D17-407A-86E4-F0D022490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After building the regression models, write the answer for the following questions in your observation book</a:t>
            </a:r>
          </a:p>
          <a:p>
            <a:pPr marL="0" indent="0" algn="just">
              <a:buNone/>
            </a:pPr>
            <a:r>
              <a:rPr lang="en-US" sz="1800" dirty="0"/>
              <a:t>1. Considering the three data .csv files (</a:t>
            </a:r>
            <a:r>
              <a:rPr lang="en-US" sz="1800" b="0" i="0" dirty="0">
                <a:effectLst/>
                <a:latin typeface="system-ui"/>
              </a:rPr>
              <a:t>canada_per_capita_income.csv , salary.csv, </a:t>
            </a:r>
            <a:r>
              <a:rPr lang="en-US" sz="1800" b="0" i="0" dirty="0">
                <a:effectLst/>
                <a:latin typeface="Inter"/>
              </a:rPr>
              <a:t>hiring.csv</a:t>
            </a:r>
            <a:r>
              <a:rPr lang="en-US" sz="1800" dirty="0"/>
              <a:t>), Did you perform any data preprocessing steps (e.g., missing values, scaling, encoding)? If yes, why?</a:t>
            </a:r>
          </a:p>
          <a:p>
            <a:pPr marL="0" indent="0" algn="just">
              <a:buNone/>
            </a:pPr>
            <a:r>
              <a:rPr lang="en-IN" sz="1800" dirty="0"/>
              <a:t>2. For </a:t>
            </a:r>
            <a:r>
              <a:rPr lang="en-US" sz="1800" b="1" i="0" dirty="0">
                <a:effectLst/>
                <a:latin typeface="system-ui"/>
              </a:rPr>
              <a:t>canada_per_capita_income.csv</a:t>
            </a:r>
            <a:r>
              <a:rPr lang="en-US" sz="1800" b="0" i="0" dirty="0">
                <a:effectLst/>
                <a:latin typeface="system-ui"/>
              </a:rPr>
              <a:t>, d</a:t>
            </a:r>
            <a:r>
              <a:rPr lang="en-US" sz="1800" b="0" i="0" dirty="0">
                <a:effectLst/>
                <a:latin typeface="Inter"/>
              </a:rPr>
              <a:t>id you visualize the regression line along with the data points? What does the plot tell you about the relationship between year and per capita income?</a:t>
            </a:r>
          </a:p>
          <a:p>
            <a:pPr marL="0" indent="0" algn="just">
              <a:buNone/>
            </a:pPr>
            <a:r>
              <a:rPr lang="en-US" sz="1800" dirty="0">
                <a:latin typeface="Inter"/>
              </a:rPr>
              <a:t>3. For </a:t>
            </a:r>
            <a:r>
              <a:rPr lang="en-US" sz="1800" b="1" i="0" dirty="0">
                <a:effectLst/>
                <a:latin typeface="Inter"/>
              </a:rPr>
              <a:t>hiring.csv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dirty="0">
                <a:latin typeface="Inter"/>
              </a:rPr>
              <a:t>, What is the predicted salary for a candidate with 12 years of experience, 10 test score, and 10 interview score?</a:t>
            </a:r>
          </a:p>
          <a:p>
            <a:pPr marL="0" indent="0" algn="just">
              <a:buNone/>
            </a:pPr>
            <a:r>
              <a:rPr lang="en-US" sz="1800" b="0" i="0" dirty="0">
                <a:effectLst/>
                <a:latin typeface="Inter"/>
              </a:rPr>
              <a:t>4. For </a:t>
            </a:r>
            <a:r>
              <a:rPr lang="en-US" sz="1800" b="1" i="0" dirty="0">
                <a:effectLst/>
                <a:latin typeface="Inter"/>
              </a:rPr>
              <a:t>1000_companies.csv</a:t>
            </a:r>
            <a:r>
              <a:rPr lang="en-US" sz="1800" b="0" i="0" dirty="0">
                <a:effectLst/>
                <a:latin typeface="Inter"/>
              </a:rPr>
              <a:t>, Did you encode categorical variables (e.g., State)? If yes, how? Did you scale the features? If yes, why?</a:t>
            </a:r>
          </a:p>
          <a:p>
            <a:pPr marL="0" indent="0" algn="just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0367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768</Words>
  <Application>Microsoft Office PowerPoint</Application>
  <PresentationFormat>Widescreen</PresentationFormat>
  <Paragraphs>42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Inter</vt:lpstr>
      <vt:lpstr>system-ui</vt:lpstr>
      <vt:lpstr>Office Theme</vt:lpstr>
      <vt:lpstr>Lab-2</vt:lpstr>
      <vt:lpstr>Linear Regression</vt:lpstr>
      <vt:lpstr>To write in Observation Book</vt:lpstr>
      <vt:lpstr>Implementation</vt:lpstr>
      <vt:lpstr>To Do: Implementation – Linear Regression</vt:lpstr>
      <vt:lpstr>Multiple Linear Regression</vt:lpstr>
      <vt:lpstr>To Do: Implementation – Multiple Linear Regression</vt:lpstr>
      <vt:lpstr>To Upload to Github</vt:lpstr>
      <vt:lpstr>To write in the Observation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Lab-2</dc:title>
  <dc:creator>BMSCECSE</dc:creator>
  <cp:lastModifiedBy>BMSCECSE</cp:lastModifiedBy>
  <cp:revision>11</cp:revision>
  <dcterms:created xsi:type="dcterms:W3CDTF">2025-03-06T04:01:53Z</dcterms:created>
  <dcterms:modified xsi:type="dcterms:W3CDTF">2025-03-07T06:37:25Z</dcterms:modified>
</cp:coreProperties>
</file>