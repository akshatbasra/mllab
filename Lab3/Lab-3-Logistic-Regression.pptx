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550" r:id="rId3"/>
    <p:sldId id="569" r:id="rId4"/>
    <p:sldId id="259" r:id="rId5"/>
    <p:sldId id="265" r:id="rId6"/>
    <p:sldId id="266" r:id="rId7"/>
    <p:sldId id="260" r:id="rId8"/>
    <p:sldId id="257" r:id="rId9"/>
    <p:sldId id="570" r:id="rId10"/>
    <p:sldId id="263"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AF36C6-7AE8-46C7-81F4-832AFC6B41C8}" type="datetimeFigureOut">
              <a:rPr lang="en-IN" smtClean="0"/>
              <a:t>13-03-2025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BD6E91-ACCC-469B-99CF-4DA72278C92D}" type="slidenum">
              <a:rPr lang="en-IN" smtClean="0"/>
              <a:t>‹#›</a:t>
            </a:fld>
            <a:endParaRPr lang="en-IN"/>
          </a:p>
        </p:txBody>
      </p:sp>
    </p:spTree>
    <p:extLst>
      <p:ext uri="{BB962C8B-B14F-4D97-AF65-F5344CB8AC3E}">
        <p14:creationId xmlns:p14="http://schemas.microsoft.com/office/powerpoint/2010/main" val="1868991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a:t>
            </a:fld>
            <a:endParaRPr lang="en-US"/>
          </a:p>
        </p:txBody>
      </p:sp>
    </p:spTree>
    <p:extLst>
      <p:ext uri="{BB962C8B-B14F-4D97-AF65-F5344CB8AC3E}">
        <p14:creationId xmlns:p14="http://schemas.microsoft.com/office/powerpoint/2010/main" val="34774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field of machine learning, a confusion matrix is a specific table layout that allows visualization of the performance of an algorithm, typically a supervised learning one (in unsupervised learning it is usually called a matching matrix). Each column of the matrix represents the instances in a predicted class, while each row represents the instances in an actual class. The name stems from the fact that it makes it easy to see if the system is confusing two classes (i.e. commonly mislabeling one as another).</a:t>
            </a:r>
          </a:p>
          <a:p>
            <a:r>
              <a:rPr lang="en-US" dirty="0"/>
              <a:t>In my decision tree (J48) classifier output, there is a confusion Matrix</a:t>
            </a:r>
          </a:p>
          <a:p>
            <a:r>
              <a:rPr lang="en-US" dirty="0"/>
              <a:t>a b &lt;----- classified as </a:t>
            </a:r>
          </a:p>
          <a:p>
            <a:r>
              <a:rPr lang="en-US" dirty="0"/>
              <a:t>130 8 a = functional </a:t>
            </a:r>
          </a:p>
          <a:p>
            <a:r>
              <a:rPr lang="en-US" dirty="0"/>
              <a:t>15 150 b = non-functional </a:t>
            </a:r>
          </a:p>
          <a:p>
            <a:r>
              <a:rPr lang="en-US" dirty="0"/>
              <a:t>The row indicates the true class, the column indicates the classifier output. Each entry, then, gives the number of instances of that were classified as . In your example, 15 </a:t>
            </a:r>
            <a:r>
              <a:rPr lang="en-US" dirty="0" err="1"/>
              <a:t>Bs</a:t>
            </a:r>
            <a:r>
              <a:rPr lang="en-US" dirty="0"/>
              <a:t> were (incorrectly) classified as </a:t>
            </a:r>
            <a:r>
              <a:rPr lang="en-US" dirty="0" err="1"/>
              <a:t>As</a:t>
            </a:r>
            <a:r>
              <a:rPr lang="en-US" dirty="0"/>
              <a:t>, 150 </a:t>
            </a:r>
            <a:r>
              <a:rPr lang="en-US" dirty="0" err="1"/>
              <a:t>Bs</a:t>
            </a:r>
            <a:r>
              <a:rPr lang="en-US" dirty="0"/>
              <a:t> were correctly classified as </a:t>
            </a:r>
            <a:r>
              <a:rPr lang="en-US" dirty="0" err="1"/>
              <a:t>Bs</a:t>
            </a:r>
            <a:r>
              <a:rPr lang="en-US" dirty="0"/>
              <a:t>, etc.</a:t>
            </a:r>
          </a:p>
          <a:p>
            <a:r>
              <a:rPr lang="en-US" dirty="0"/>
              <a:t>As a result, all </a:t>
            </a:r>
            <a:r>
              <a:rPr lang="en-US" i="1" dirty="0"/>
              <a:t>correct</a:t>
            </a:r>
            <a:r>
              <a:rPr lang="en-US" dirty="0"/>
              <a:t> classifications are on the top-left to bottom-right diagonal. Everything off that diagonal is an incorrect classification of some sort.</a:t>
            </a:r>
          </a:p>
          <a:p>
            <a:endParaRPr lang="en-US" dirty="0"/>
          </a:p>
        </p:txBody>
      </p:sp>
      <p:sp>
        <p:nvSpPr>
          <p:cNvPr id="4" name="Slide Number Placeholder 3"/>
          <p:cNvSpPr>
            <a:spLocks noGrp="1"/>
          </p:cNvSpPr>
          <p:nvPr>
            <p:ph type="sldNum" sz="quarter" idx="10"/>
          </p:nvPr>
        </p:nvSpPr>
        <p:spPr/>
        <p:txBody>
          <a:bodyPr/>
          <a:lstStyle/>
          <a:p>
            <a:fld id="{F15A57E8-1AEC-411F-A34E-A66CA3859665}" type="slidenum">
              <a:rPr lang="en-US" smtClean="0"/>
              <a:t>5</a:t>
            </a:fld>
            <a:endParaRPr lang="en-US"/>
          </a:p>
        </p:txBody>
      </p:sp>
    </p:spTree>
    <p:extLst>
      <p:ext uri="{BB962C8B-B14F-4D97-AF65-F5344CB8AC3E}">
        <p14:creationId xmlns:p14="http://schemas.microsoft.com/office/powerpoint/2010/main" val="682541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confusion matrix, of the 8 actual cats, the system predicted that three were dogs, and of the five dogs, it predicted that two were cats.</a:t>
            </a:r>
          </a:p>
        </p:txBody>
      </p:sp>
      <p:sp>
        <p:nvSpPr>
          <p:cNvPr id="4" name="Slide Number Placeholder 3"/>
          <p:cNvSpPr>
            <a:spLocks noGrp="1"/>
          </p:cNvSpPr>
          <p:nvPr>
            <p:ph type="sldNum" sz="quarter" idx="10"/>
          </p:nvPr>
        </p:nvSpPr>
        <p:spPr/>
        <p:txBody>
          <a:bodyPr/>
          <a:lstStyle/>
          <a:p>
            <a:fld id="{F15A57E8-1AEC-411F-A34E-A66CA3859665}" type="slidenum">
              <a:rPr lang="en-US" smtClean="0"/>
              <a:t>6</a:t>
            </a:fld>
            <a:endParaRPr lang="en-US"/>
          </a:p>
        </p:txBody>
      </p:sp>
    </p:spTree>
    <p:extLst>
      <p:ext uri="{BB962C8B-B14F-4D97-AF65-F5344CB8AC3E}">
        <p14:creationId xmlns:p14="http://schemas.microsoft.com/office/powerpoint/2010/main" val="682541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US" b="0" i="0" dirty="0">
              <a:effectLst/>
              <a:latin typeface="system-ui"/>
            </a:endParaRPr>
          </a:p>
        </p:txBody>
      </p:sp>
      <p:sp>
        <p:nvSpPr>
          <p:cNvPr id="4" name="Slide Number Placeholder 3"/>
          <p:cNvSpPr>
            <a:spLocks noGrp="1"/>
          </p:cNvSpPr>
          <p:nvPr>
            <p:ph type="sldNum" sz="quarter" idx="5"/>
          </p:nvPr>
        </p:nvSpPr>
        <p:spPr/>
        <p:txBody>
          <a:bodyPr/>
          <a:lstStyle/>
          <a:p>
            <a:fld id="{E0BD6E91-ACCC-469B-99CF-4DA72278C92D}" type="slidenum">
              <a:rPr lang="en-IN" smtClean="0"/>
              <a:t>8</a:t>
            </a:fld>
            <a:endParaRPr lang="en-IN"/>
          </a:p>
        </p:txBody>
      </p:sp>
    </p:spTree>
    <p:extLst>
      <p:ext uri="{BB962C8B-B14F-4D97-AF65-F5344CB8AC3E}">
        <p14:creationId xmlns:p14="http://schemas.microsoft.com/office/powerpoint/2010/main" val="2179208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US" b="0" i="0" dirty="0">
              <a:effectLst/>
              <a:latin typeface="system-ui"/>
            </a:endParaRPr>
          </a:p>
        </p:txBody>
      </p:sp>
      <p:sp>
        <p:nvSpPr>
          <p:cNvPr id="4" name="Slide Number Placeholder 3"/>
          <p:cNvSpPr>
            <a:spLocks noGrp="1"/>
          </p:cNvSpPr>
          <p:nvPr>
            <p:ph type="sldNum" sz="quarter" idx="5"/>
          </p:nvPr>
        </p:nvSpPr>
        <p:spPr/>
        <p:txBody>
          <a:bodyPr/>
          <a:lstStyle/>
          <a:p>
            <a:fld id="{E0BD6E91-ACCC-469B-99CF-4DA72278C92D}" type="slidenum">
              <a:rPr lang="en-IN" smtClean="0"/>
              <a:t>9</a:t>
            </a:fld>
            <a:endParaRPr lang="en-IN"/>
          </a:p>
        </p:txBody>
      </p:sp>
    </p:spTree>
    <p:extLst>
      <p:ext uri="{BB962C8B-B14F-4D97-AF65-F5344CB8AC3E}">
        <p14:creationId xmlns:p14="http://schemas.microsoft.com/office/powerpoint/2010/main" val="2643200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CA694-8539-4F98-981A-1EDA732D51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9C36B19-6608-405C-A354-829FBF3559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2A3939-EFAA-421E-B7E5-91DBE405BB41}"/>
              </a:ext>
            </a:extLst>
          </p:cNvPr>
          <p:cNvSpPr>
            <a:spLocks noGrp="1"/>
          </p:cNvSpPr>
          <p:nvPr>
            <p:ph type="dt" sz="half" idx="10"/>
          </p:nvPr>
        </p:nvSpPr>
        <p:spPr/>
        <p:txBody>
          <a:bodyPr/>
          <a:lstStyle/>
          <a:p>
            <a:fld id="{843F7753-906A-48E5-A75C-DEB3356F7158}" type="datetimeFigureOut">
              <a:rPr lang="en-IN" smtClean="0"/>
              <a:t>13-03-2025</a:t>
            </a:fld>
            <a:endParaRPr lang="en-IN"/>
          </a:p>
        </p:txBody>
      </p:sp>
      <p:sp>
        <p:nvSpPr>
          <p:cNvPr id="5" name="Footer Placeholder 4">
            <a:extLst>
              <a:ext uri="{FF2B5EF4-FFF2-40B4-BE49-F238E27FC236}">
                <a16:creationId xmlns:a16="http://schemas.microsoft.com/office/drawing/2014/main" id="{93A95FF7-2427-4F17-97B1-8FFF225204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B21751-4937-461F-87F9-7A392360EFA6}"/>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1803206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4BDF8-4ACF-424B-880E-E08537D910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E180ACF-E98E-4522-A30A-597B8DB6C8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09A2D5-96B9-4358-8FE1-8D4FD3B9B01C}"/>
              </a:ext>
            </a:extLst>
          </p:cNvPr>
          <p:cNvSpPr>
            <a:spLocks noGrp="1"/>
          </p:cNvSpPr>
          <p:nvPr>
            <p:ph type="dt" sz="half" idx="10"/>
          </p:nvPr>
        </p:nvSpPr>
        <p:spPr/>
        <p:txBody>
          <a:bodyPr/>
          <a:lstStyle/>
          <a:p>
            <a:fld id="{843F7753-906A-48E5-A75C-DEB3356F7158}" type="datetimeFigureOut">
              <a:rPr lang="en-IN" smtClean="0"/>
              <a:t>13-03-2025</a:t>
            </a:fld>
            <a:endParaRPr lang="en-IN"/>
          </a:p>
        </p:txBody>
      </p:sp>
      <p:sp>
        <p:nvSpPr>
          <p:cNvPr id="5" name="Footer Placeholder 4">
            <a:extLst>
              <a:ext uri="{FF2B5EF4-FFF2-40B4-BE49-F238E27FC236}">
                <a16:creationId xmlns:a16="http://schemas.microsoft.com/office/drawing/2014/main" id="{811CF421-5737-440A-A2F0-49AAAAEB90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BC25-1FD5-4A09-885A-DD27ABB4CB94}"/>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3456989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C59C7-B2B8-4A92-8112-CDCA3ED77A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47DB073-4405-4769-9A58-E9838CAB8B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79B822-CA5B-49B6-9C4B-B6BDDAA14B04}"/>
              </a:ext>
            </a:extLst>
          </p:cNvPr>
          <p:cNvSpPr>
            <a:spLocks noGrp="1"/>
          </p:cNvSpPr>
          <p:nvPr>
            <p:ph type="dt" sz="half" idx="10"/>
          </p:nvPr>
        </p:nvSpPr>
        <p:spPr/>
        <p:txBody>
          <a:bodyPr/>
          <a:lstStyle/>
          <a:p>
            <a:fld id="{843F7753-906A-48E5-A75C-DEB3356F7158}" type="datetimeFigureOut">
              <a:rPr lang="en-IN" smtClean="0"/>
              <a:t>13-03-2025</a:t>
            </a:fld>
            <a:endParaRPr lang="en-IN"/>
          </a:p>
        </p:txBody>
      </p:sp>
      <p:sp>
        <p:nvSpPr>
          <p:cNvPr id="5" name="Footer Placeholder 4">
            <a:extLst>
              <a:ext uri="{FF2B5EF4-FFF2-40B4-BE49-F238E27FC236}">
                <a16:creationId xmlns:a16="http://schemas.microsoft.com/office/drawing/2014/main" id="{89812456-FA02-4535-9110-EF3A70696D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FCB938-EBAC-475B-B511-55C245341565}"/>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2770027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54E19-18F7-4B0F-9E44-CEC0A5921BD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C1C5B0-0AF3-4706-A197-680544366D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9F93FA1-BC97-4F2C-9CB5-47CEB7A0EC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5B276F9-6CCE-426B-AED3-2DD8D21184C8}"/>
              </a:ext>
            </a:extLst>
          </p:cNvPr>
          <p:cNvSpPr>
            <a:spLocks noGrp="1"/>
          </p:cNvSpPr>
          <p:nvPr>
            <p:ph type="dt" sz="half" idx="10"/>
          </p:nvPr>
        </p:nvSpPr>
        <p:spPr/>
        <p:txBody>
          <a:bodyPr/>
          <a:lstStyle/>
          <a:p>
            <a:fld id="{843F7753-906A-48E5-A75C-DEB3356F7158}" type="datetimeFigureOut">
              <a:rPr lang="en-IN" smtClean="0"/>
              <a:t>13-03-2025</a:t>
            </a:fld>
            <a:endParaRPr lang="en-IN"/>
          </a:p>
        </p:txBody>
      </p:sp>
      <p:sp>
        <p:nvSpPr>
          <p:cNvPr id="6" name="Footer Placeholder 5">
            <a:extLst>
              <a:ext uri="{FF2B5EF4-FFF2-40B4-BE49-F238E27FC236}">
                <a16:creationId xmlns:a16="http://schemas.microsoft.com/office/drawing/2014/main" id="{7713BFAE-76B3-4F59-A8BF-45947DC6BB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09FDEA-BB6E-4B29-A2B7-2AB7572B7D49}"/>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1223994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68B14-891D-4CC9-BD47-C32827F1BDE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E1E292-DF48-4B89-B38D-B9C9C7E047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D0D85D-9BCE-4FFD-92C3-A58B04F4F8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8B28CBB-4B92-4278-A207-3687DD7AFA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BC5B4-254A-4C79-BB42-A1C979E3B5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6576D99-9C50-4E40-81C6-D580AD8BFD6D}"/>
              </a:ext>
            </a:extLst>
          </p:cNvPr>
          <p:cNvSpPr>
            <a:spLocks noGrp="1"/>
          </p:cNvSpPr>
          <p:nvPr>
            <p:ph type="dt" sz="half" idx="10"/>
          </p:nvPr>
        </p:nvSpPr>
        <p:spPr/>
        <p:txBody>
          <a:bodyPr/>
          <a:lstStyle/>
          <a:p>
            <a:fld id="{843F7753-906A-48E5-A75C-DEB3356F7158}" type="datetimeFigureOut">
              <a:rPr lang="en-IN" smtClean="0"/>
              <a:t>13-03-2025</a:t>
            </a:fld>
            <a:endParaRPr lang="en-IN"/>
          </a:p>
        </p:txBody>
      </p:sp>
      <p:sp>
        <p:nvSpPr>
          <p:cNvPr id="8" name="Footer Placeholder 7">
            <a:extLst>
              <a:ext uri="{FF2B5EF4-FFF2-40B4-BE49-F238E27FC236}">
                <a16:creationId xmlns:a16="http://schemas.microsoft.com/office/drawing/2014/main" id="{C6B97BB3-5252-4580-BF5A-1BAC3F774BE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9352F7-CF7B-4358-9DD6-8E4000CCB097}"/>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3290418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899B6-ED16-47D8-89A0-F7CC4E27BE0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DE2B694-695F-4276-8004-647F2B9ABD37}"/>
              </a:ext>
            </a:extLst>
          </p:cNvPr>
          <p:cNvSpPr>
            <a:spLocks noGrp="1"/>
          </p:cNvSpPr>
          <p:nvPr>
            <p:ph type="dt" sz="half" idx="10"/>
          </p:nvPr>
        </p:nvSpPr>
        <p:spPr/>
        <p:txBody>
          <a:bodyPr/>
          <a:lstStyle/>
          <a:p>
            <a:fld id="{843F7753-906A-48E5-A75C-DEB3356F7158}" type="datetimeFigureOut">
              <a:rPr lang="en-IN" smtClean="0"/>
              <a:t>13-03-2025</a:t>
            </a:fld>
            <a:endParaRPr lang="en-IN"/>
          </a:p>
        </p:txBody>
      </p:sp>
      <p:sp>
        <p:nvSpPr>
          <p:cNvPr id="4" name="Footer Placeholder 3">
            <a:extLst>
              <a:ext uri="{FF2B5EF4-FFF2-40B4-BE49-F238E27FC236}">
                <a16:creationId xmlns:a16="http://schemas.microsoft.com/office/drawing/2014/main" id="{E4ACCC71-0410-4674-81A8-B8D77542E7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877572-E25D-4CAE-9589-8A86264A3737}"/>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3249617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F38B43-40F0-4F55-81FA-77DBCB0F29A5}"/>
              </a:ext>
            </a:extLst>
          </p:cNvPr>
          <p:cNvSpPr>
            <a:spLocks noGrp="1"/>
          </p:cNvSpPr>
          <p:nvPr>
            <p:ph type="dt" sz="half" idx="10"/>
          </p:nvPr>
        </p:nvSpPr>
        <p:spPr/>
        <p:txBody>
          <a:bodyPr/>
          <a:lstStyle/>
          <a:p>
            <a:fld id="{843F7753-906A-48E5-A75C-DEB3356F7158}" type="datetimeFigureOut">
              <a:rPr lang="en-IN" smtClean="0"/>
              <a:t>13-03-2025</a:t>
            </a:fld>
            <a:endParaRPr lang="en-IN"/>
          </a:p>
        </p:txBody>
      </p:sp>
      <p:sp>
        <p:nvSpPr>
          <p:cNvPr id="3" name="Footer Placeholder 2">
            <a:extLst>
              <a:ext uri="{FF2B5EF4-FFF2-40B4-BE49-F238E27FC236}">
                <a16:creationId xmlns:a16="http://schemas.microsoft.com/office/drawing/2014/main" id="{1CB09EFB-2F5B-4972-AB24-C8ECFA6C82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C3FD99-4512-4131-B177-ADE8D0521FF0}"/>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1638064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F4683-3BC3-4C6B-A4DE-11DBDBE7A1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9089C90-CA54-4E6A-AAA0-0C4ADE315C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2EEED50-FDB7-4B23-9F14-936C5BCECD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39790C-66EA-485D-BEA5-C1FD97D6203A}"/>
              </a:ext>
            </a:extLst>
          </p:cNvPr>
          <p:cNvSpPr>
            <a:spLocks noGrp="1"/>
          </p:cNvSpPr>
          <p:nvPr>
            <p:ph type="dt" sz="half" idx="10"/>
          </p:nvPr>
        </p:nvSpPr>
        <p:spPr/>
        <p:txBody>
          <a:bodyPr/>
          <a:lstStyle/>
          <a:p>
            <a:fld id="{843F7753-906A-48E5-A75C-DEB3356F7158}" type="datetimeFigureOut">
              <a:rPr lang="en-IN" smtClean="0"/>
              <a:t>13-03-2025</a:t>
            </a:fld>
            <a:endParaRPr lang="en-IN"/>
          </a:p>
        </p:txBody>
      </p:sp>
      <p:sp>
        <p:nvSpPr>
          <p:cNvPr id="6" name="Footer Placeholder 5">
            <a:extLst>
              <a:ext uri="{FF2B5EF4-FFF2-40B4-BE49-F238E27FC236}">
                <a16:creationId xmlns:a16="http://schemas.microsoft.com/office/drawing/2014/main" id="{B8A9E974-82F7-4C54-B79D-FE7087E8F5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1CE4DD-1EDC-4F38-9C56-1FD601BD8DD1}"/>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2995624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F9542-2554-4248-B1D8-ECAE7C6333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5D59A76-CC0B-4B13-BF93-D249D725B5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5CB673-2776-4C52-BE09-89F312513B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12956C-6220-4C59-9ED9-7A57665C938A}"/>
              </a:ext>
            </a:extLst>
          </p:cNvPr>
          <p:cNvSpPr>
            <a:spLocks noGrp="1"/>
          </p:cNvSpPr>
          <p:nvPr>
            <p:ph type="dt" sz="half" idx="10"/>
          </p:nvPr>
        </p:nvSpPr>
        <p:spPr/>
        <p:txBody>
          <a:bodyPr/>
          <a:lstStyle/>
          <a:p>
            <a:fld id="{843F7753-906A-48E5-A75C-DEB3356F7158}" type="datetimeFigureOut">
              <a:rPr lang="en-IN" smtClean="0"/>
              <a:t>13-03-2025</a:t>
            </a:fld>
            <a:endParaRPr lang="en-IN"/>
          </a:p>
        </p:txBody>
      </p:sp>
      <p:sp>
        <p:nvSpPr>
          <p:cNvPr id="6" name="Footer Placeholder 5">
            <a:extLst>
              <a:ext uri="{FF2B5EF4-FFF2-40B4-BE49-F238E27FC236}">
                <a16:creationId xmlns:a16="http://schemas.microsoft.com/office/drawing/2014/main" id="{80432B89-9BFE-4B96-8C07-428EF8A622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02A7D2-D55C-4CF4-A4C7-D0C4D09D9B27}"/>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458443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16811-2B28-4BB8-B184-45AC8EAFC5F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0B1D50-D297-4B2F-81E0-329706A71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BDF1F6-3107-4317-BA04-F5A74FE1C465}"/>
              </a:ext>
            </a:extLst>
          </p:cNvPr>
          <p:cNvSpPr>
            <a:spLocks noGrp="1"/>
          </p:cNvSpPr>
          <p:nvPr>
            <p:ph type="dt" sz="half" idx="10"/>
          </p:nvPr>
        </p:nvSpPr>
        <p:spPr/>
        <p:txBody>
          <a:bodyPr/>
          <a:lstStyle/>
          <a:p>
            <a:fld id="{843F7753-906A-48E5-A75C-DEB3356F7158}" type="datetimeFigureOut">
              <a:rPr lang="en-IN" smtClean="0"/>
              <a:t>13-03-2025</a:t>
            </a:fld>
            <a:endParaRPr lang="en-IN"/>
          </a:p>
        </p:txBody>
      </p:sp>
      <p:sp>
        <p:nvSpPr>
          <p:cNvPr id="5" name="Footer Placeholder 4">
            <a:extLst>
              <a:ext uri="{FF2B5EF4-FFF2-40B4-BE49-F238E27FC236}">
                <a16:creationId xmlns:a16="http://schemas.microsoft.com/office/drawing/2014/main" id="{188C0489-A968-4FA0-B74F-6E64D3C53C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64B6C9-321E-4DF2-8D5F-A422DD5F8E0F}"/>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1435562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DD424D-BDD2-4D9F-9640-C31C2E9FEE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747B7C-4D02-41A8-9F99-2553B76BCC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90CFCF-05F5-4700-AAC9-F718639703EA}"/>
              </a:ext>
            </a:extLst>
          </p:cNvPr>
          <p:cNvSpPr>
            <a:spLocks noGrp="1"/>
          </p:cNvSpPr>
          <p:nvPr>
            <p:ph type="dt" sz="half" idx="10"/>
          </p:nvPr>
        </p:nvSpPr>
        <p:spPr/>
        <p:txBody>
          <a:bodyPr/>
          <a:lstStyle/>
          <a:p>
            <a:fld id="{843F7753-906A-48E5-A75C-DEB3356F7158}" type="datetimeFigureOut">
              <a:rPr lang="en-IN" smtClean="0"/>
              <a:t>13-03-2025</a:t>
            </a:fld>
            <a:endParaRPr lang="en-IN"/>
          </a:p>
        </p:txBody>
      </p:sp>
      <p:sp>
        <p:nvSpPr>
          <p:cNvPr id="5" name="Footer Placeholder 4">
            <a:extLst>
              <a:ext uri="{FF2B5EF4-FFF2-40B4-BE49-F238E27FC236}">
                <a16:creationId xmlns:a16="http://schemas.microsoft.com/office/drawing/2014/main" id="{F25B6FF0-0765-4111-BB57-3670D06C18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0258ED-0A80-46F1-82ED-E5888E119E4B}"/>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276999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C4D321-0C74-4D58-942A-F2CEED851C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D754D4-104B-4C9B-B5A5-8F983A55A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D34804-7137-48A1-B08B-285D17B88A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F7753-906A-48E5-A75C-DEB3356F7158}" type="datetimeFigureOut">
              <a:rPr lang="en-IN" smtClean="0"/>
              <a:t>13-03-2025</a:t>
            </a:fld>
            <a:endParaRPr lang="en-IN"/>
          </a:p>
        </p:txBody>
      </p:sp>
      <p:sp>
        <p:nvSpPr>
          <p:cNvPr id="5" name="Footer Placeholder 4">
            <a:extLst>
              <a:ext uri="{FF2B5EF4-FFF2-40B4-BE49-F238E27FC236}">
                <a16:creationId xmlns:a16="http://schemas.microsoft.com/office/drawing/2014/main" id="{8BECC441-F3D6-4AD6-965E-D376F26279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F68E62A-EB95-4D0D-A98D-CBE84FE9F1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46D18-3D15-42BB-8F5C-4CEE56373E76}" type="slidenum">
              <a:rPr lang="en-IN" smtClean="0"/>
              <a:t>‹#›</a:t>
            </a:fld>
            <a:endParaRPr lang="en-IN"/>
          </a:p>
        </p:txBody>
      </p:sp>
    </p:spTree>
    <p:extLst>
      <p:ext uri="{BB962C8B-B14F-4D97-AF65-F5344CB8AC3E}">
        <p14:creationId xmlns:p14="http://schemas.microsoft.com/office/powerpoint/2010/main" val="2337338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C0C46-0C0B-4DD9-BC5E-437381FDF46B}"/>
              </a:ext>
            </a:extLst>
          </p:cNvPr>
          <p:cNvSpPr>
            <a:spLocks noGrp="1"/>
          </p:cNvSpPr>
          <p:nvPr>
            <p:ph type="ctrTitle"/>
          </p:nvPr>
        </p:nvSpPr>
        <p:spPr/>
        <p:txBody>
          <a:bodyPr/>
          <a:lstStyle/>
          <a:p>
            <a:r>
              <a:rPr lang="en-US" dirty="0"/>
              <a:t>Lab-3</a:t>
            </a:r>
            <a:endParaRPr lang="en-IN" dirty="0"/>
          </a:p>
        </p:txBody>
      </p:sp>
      <p:sp>
        <p:nvSpPr>
          <p:cNvPr id="3" name="Subtitle 2">
            <a:extLst>
              <a:ext uri="{FF2B5EF4-FFF2-40B4-BE49-F238E27FC236}">
                <a16:creationId xmlns:a16="http://schemas.microsoft.com/office/drawing/2014/main" id="{42F2331F-ADDF-4021-8C3E-2657BB55D142}"/>
              </a:ext>
            </a:extLst>
          </p:cNvPr>
          <p:cNvSpPr>
            <a:spLocks noGrp="1"/>
          </p:cNvSpPr>
          <p:nvPr>
            <p:ph type="subTitle" idx="1"/>
          </p:nvPr>
        </p:nvSpPr>
        <p:spPr/>
        <p:txBody>
          <a:bodyPr/>
          <a:lstStyle/>
          <a:p>
            <a:r>
              <a:rPr lang="en-US" dirty="0"/>
              <a:t>Build Logistic Regression Model for a given dataset</a:t>
            </a:r>
            <a:endParaRPr lang="en-IN" dirty="0"/>
          </a:p>
        </p:txBody>
      </p:sp>
    </p:spTree>
    <p:extLst>
      <p:ext uri="{BB962C8B-B14F-4D97-AF65-F5344CB8AC3E}">
        <p14:creationId xmlns:p14="http://schemas.microsoft.com/office/powerpoint/2010/main" val="3464186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9EA5-AA79-9215-1016-1BE69171B253}"/>
              </a:ext>
            </a:extLst>
          </p:cNvPr>
          <p:cNvSpPr>
            <a:spLocks noGrp="1"/>
          </p:cNvSpPr>
          <p:nvPr>
            <p:ph type="title"/>
          </p:nvPr>
        </p:nvSpPr>
        <p:spPr/>
        <p:txBody>
          <a:bodyPr/>
          <a:lstStyle/>
          <a:p>
            <a:r>
              <a:rPr lang="en-US" dirty="0"/>
              <a:t>Logistic Regression</a:t>
            </a:r>
            <a:endParaRPr lang="en-IN" dirty="0"/>
          </a:p>
        </p:txBody>
      </p:sp>
      <p:sp>
        <p:nvSpPr>
          <p:cNvPr id="3" name="Content Placeholder 2">
            <a:extLst>
              <a:ext uri="{FF2B5EF4-FFF2-40B4-BE49-F238E27FC236}">
                <a16:creationId xmlns:a16="http://schemas.microsoft.com/office/drawing/2014/main" id="{2AF5E6A5-35E6-66E7-B792-AC586FB29181}"/>
              </a:ext>
            </a:extLst>
          </p:cNvPr>
          <p:cNvSpPr>
            <a:spLocks noGrp="1"/>
          </p:cNvSpPr>
          <p:nvPr>
            <p:ph idx="1"/>
          </p:nvPr>
        </p:nvSpPr>
        <p:spPr/>
        <p:txBody>
          <a:bodyPr/>
          <a:lstStyle/>
          <a:p>
            <a:r>
              <a:rPr lang="en-US" dirty="0"/>
              <a:t>Logistic Regression for Binary Classification</a:t>
            </a:r>
          </a:p>
          <a:p>
            <a:r>
              <a:rPr lang="en-US" dirty="0"/>
              <a:t>Logistic Regression for Multiclass Classification</a:t>
            </a:r>
            <a:endParaRPr lang="en-IN" dirty="0"/>
          </a:p>
        </p:txBody>
      </p:sp>
      <p:sp>
        <p:nvSpPr>
          <p:cNvPr id="4" name="Date Placeholder 3">
            <a:extLst>
              <a:ext uri="{FF2B5EF4-FFF2-40B4-BE49-F238E27FC236}">
                <a16:creationId xmlns:a16="http://schemas.microsoft.com/office/drawing/2014/main" id="{8DCF2DF4-B87C-2C71-11EA-45C979749AEA}"/>
              </a:ext>
            </a:extLst>
          </p:cNvPr>
          <p:cNvSpPr>
            <a:spLocks noGrp="1"/>
          </p:cNvSpPr>
          <p:nvPr>
            <p:ph type="dt" sz="half" idx="10"/>
          </p:nvPr>
        </p:nvSpPr>
        <p:spPr/>
        <p:txBody>
          <a:bodyPr/>
          <a:lstStyle/>
          <a:p>
            <a:fld id="{59A993AC-6FC6-4FD7-BA84-6FD82A41DCAC}" type="datetime3">
              <a:rPr lang="en-US" smtClean="0"/>
              <a:t>13 March 2025</a:t>
            </a:fld>
            <a:endParaRPr lang="en-US"/>
          </a:p>
        </p:txBody>
      </p:sp>
      <p:sp>
        <p:nvSpPr>
          <p:cNvPr id="5" name="Footer Placeholder 4">
            <a:extLst>
              <a:ext uri="{FF2B5EF4-FFF2-40B4-BE49-F238E27FC236}">
                <a16:creationId xmlns:a16="http://schemas.microsoft.com/office/drawing/2014/main" id="{46BDD265-C6AA-04C6-59B4-FA5EACE9EF8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0AFACEC-9D0F-01A5-4BCC-5614F09082D0}"/>
              </a:ext>
            </a:extLst>
          </p:cNvPr>
          <p:cNvSpPr>
            <a:spLocks noGrp="1"/>
          </p:cNvSpPr>
          <p:nvPr>
            <p:ph type="sldNum" sz="quarter" idx="12"/>
          </p:nvPr>
        </p:nvSpPr>
        <p:spPr/>
        <p:txBody>
          <a:bodyPr/>
          <a:lstStyle/>
          <a:p>
            <a:fld id="{BB2CE0DE-867F-455F-B20B-96D381B4AB71}" type="slidenum">
              <a:rPr lang="en-US" smtClean="0"/>
              <a:t>2</a:t>
            </a:fld>
            <a:endParaRPr lang="en-US"/>
          </a:p>
        </p:txBody>
      </p:sp>
    </p:spTree>
    <p:extLst>
      <p:ext uri="{BB962C8B-B14F-4D97-AF65-F5344CB8AC3E}">
        <p14:creationId xmlns:p14="http://schemas.microsoft.com/office/powerpoint/2010/main" val="3315680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AABDE-438A-C8C3-3B4F-0E419BDB7D02}"/>
              </a:ext>
            </a:extLst>
          </p:cNvPr>
          <p:cNvSpPr>
            <a:spLocks noGrp="1"/>
          </p:cNvSpPr>
          <p:nvPr>
            <p:ph type="title"/>
          </p:nvPr>
        </p:nvSpPr>
        <p:spPr/>
        <p:txBody>
          <a:bodyPr/>
          <a:lstStyle/>
          <a:p>
            <a:r>
              <a:rPr lang="en-IN" sz="2400" dirty="0"/>
              <a:t>Sigmoid vs </a:t>
            </a:r>
            <a:r>
              <a:rPr lang="en-IN" sz="2400" dirty="0" err="1"/>
              <a:t>Softmax</a:t>
            </a:r>
            <a:r>
              <a:rPr lang="en-IN" sz="2400" dirty="0"/>
              <a:t> Activation function</a:t>
            </a:r>
          </a:p>
        </p:txBody>
      </p:sp>
      <p:sp>
        <p:nvSpPr>
          <p:cNvPr id="4" name="Date Placeholder 3">
            <a:extLst>
              <a:ext uri="{FF2B5EF4-FFF2-40B4-BE49-F238E27FC236}">
                <a16:creationId xmlns:a16="http://schemas.microsoft.com/office/drawing/2014/main" id="{C50E5972-0F81-517A-71E5-043CA91BB360}"/>
              </a:ext>
            </a:extLst>
          </p:cNvPr>
          <p:cNvSpPr>
            <a:spLocks noGrp="1"/>
          </p:cNvSpPr>
          <p:nvPr>
            <p:ph type="dt" sz="half" idx="10"/>
          </p:nvPr>
        </p:nvSpPr>
        <p:spPr/>
        <p:txBody>
          <a:bodyPr/>
          <a:lstStyle/>
          <a:p>
            <a:fld id="{59A993AC-6FC6-4FD7-BA84-6FD82A41DCAC}" type="datetime3">
              <a:rPr lang="en-US" smtClean="0"/>
              <a:t>13 March 2025</a:t>
            </a:fld>
            <a:endParaRPr lang="en-US"/>
          </a:p>
        </p:txBody>
      </p:sp>
      <p:sp>
        <p:nvSpPr>
          <p:cNvPr id="5" name="Footer Placeholder 4">
            <a:extLst>
              <a:ext uri="{FF2B5EF4-FFF2-40B4-BE49-F238E27FC236}">
                <a16:creationId xmlns:a16="http://schemas.microsoft.com/office/drawing/2014/main" id="{BF79B652-43DF-3BA2-2F80-82D7B657F5F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0D63D37-7083-9D03-E1D5-4FD9056F9702}"/>
              </a:ext>
            </a:extLst>
          </p:cNvPr>
          <p:cNvSpPr>
            <a:spLocks noGrp="1"/>
          </p:cNvSpPr>
          <p:nvPr>
            <p:ph type="sldNum" sz="quarter" idx="12"/>
          </p:nvPr>
        </p:nvSpPr>
        <p:spPr/>
        <p:txBody>
          <a:bodyPr/>
          <a:lstStyle/>
          <a:p>
            <a:fld id="{BB2CE0DE-867F-455F-B20B-96D381B4AB71}" type="slidenum">
              <a:rPr lang="en-US" smtClean="0"/>
              <a:t>3</a:t>
            </a:fld>
            <a:endParaRPr lang="en-US"/>
          </a:p>
        </p:txBody>
      </p:sp>
      <p:pic>
        <p:nvPicPr>
          <p:cNvPr id="8" name="Picture 7">
            <a:extLst>
              <a:ext uri="{FF2B5EF4-FFF2-40B4-BE49-F238E27FC236}">
                <a16:creationId xmlns:a16="http://schemas.microsoft.com/office/drawing/2014/main" id="{6940B02F-9687-8D34-3780-171C5D2E40CB}"/>
              </a:ext>
            </a:extLst>
          </p:cNvPr>
          <p:cNvPicPr>
            <a:picLocks noChangeAspect="1"/>
          </p:cNvPicPr>
          <p:nvPr/>
        </p:nvPicPr>
        <p:blipFill>
          <a:blip r:embed="rId3"/>
          <a:stretch>
            <a:fillRect/>
          </a:stretch>
        </p:blipFill>
        <p:spPr>
          <a:xfrm>
            <a:off x="645499" y="1401089"/>
            <a:ext cx="7887801" cy="3639058"/>
          </a:xfrm>
          <a:prstGeom prst="rect">
            <a:avLst/>
          </a:prstGeom>
        </p:spPr>
      </p:pic>
      <p:sp>
        <p:nvSpPr>
          <p:cNvPr id="9" name="TextBox 8">
            <a:extLst>
              <a:ext uri="{FF2B5EF4-FFF2-40B4-BE49-F238E27FC236}">
                <a16:creationId xmlns:a16="http://schemas.microsoft.com/office/drawing/2014/main" id="{5E8B4F3C-0BEA-02D7-91A7-6FFE2B44568C}"/>
              </a:ext>
            </a:extLst>
          </p:cNvPr>
          <p:cNvSpPr txBox="1"/>
          <p:nvPr/>
        </p:nvSpPr>
        <p:spPr>
          <a:xfrm>
            <a:off x="708253" y="5456104"/>
            <a:ext cx="8295412" cy="900246"/>
          </a:xfrm>
          <a:prstGeom prst="rect">
            <a:avLst/>
          </a:prstGeom>
          <a:noFill/>
        </p:spPr>
        <p:txBody>
          <a:bodyPr wrap="none" rtlCol="0">
            <a:spAutoFit/>
          </a:bodyPr>
          <a:lstStyle/>
          <a:p>
            <a:pPr algn="l">
              <a:buFont typeface="Arial" panose="020B0604020202020204" pitchFamily="34" charset="0"/>
              <a:buChar char="•"/>
            </a:pPr>
            <a:r>
              <a:rPr lang="en-US" sz="1600" b="1" dirty="0">
                <a:solidFill>
                  <a:srgbClr val="404040"/>
                </a:solidFill>
                <a:latin typeface="Inter"/>
              </a:rPr>
              <a:t>Sigmoid</a:t>
            </a:r>
            <a:r>
              <a:rPr lang="en-US" sz="1600" dirty="0">
                <a:solidFill>
                  <a:srgbClr val="404040"/>
                </a:solidFill>
                <a:latin typeface="Inter"/>
              </a:rPr>
              <a:t>: Used for binary classification. Maps a single logit to a probability.</a:t>
            </a:r>
          </a:p>
          <a:p>
            <a:pPr>
              <a:spcBef>
                <a:spcPts val="300"/>
              </a:spcBef>
              <a:buFont typeface="Arial" panose="020B0604020202020204" pitchFamily="34" charset="0"/>
              <a:buChar char="•"/>
            </a:pPr>
            <a:r>
              <a:rPr lang="en-US" sz="1600" b="1" dirty="0" err="1">
                <a:solidFill>
                  <a:srgbClr val="404040"/>
                </a:solidFill>
                <a:latin typeface="Inter"/>
              </a:rPr>
              <a:t>Softmax</a:t>
            </a:r>
            <a:r>
              <a:rPr lang="en-US" sz="1600" dirty="0">
                <a:solidFill>
                  <a:srgbClr val="404040"/>
                </a:solidFill>
                <a:latin typeface="Inter"/>
              </a:rPr>
              <a:t>: Used for multi-class classification. Maps a vector of logits to probabilities for all classes.</a:t>
            </a:r>
          </a:p>
          <a:p>
            <a:endParaRPr lang="en-IN" sz="1600" dirty="0"/>
          </a:p>
        </p:txBody>
      </p:sp>
      <p:pic>
        <p:nvPicPr>
          <p:cNvPr id="10" name="Picture 9">
            <a:extLst>
              <a:ext uri="{FF2B5EF4-FFF2-40B4-BE49-F238E27FC236}">
                <a16:creationId xmlns:a16="http://schemas.microsoft.com/office/drawing/2014/main" id="{CA6A34EE-0276-442D-AC33-B6761CEDFBBB}"/>
              </a:ext>
            </a:extLst>
          </p:cNvPr>
          <p:cNvPicPr>
            <a:picLocks noChangeAspect="1"/>
          </p:cNvPicPr>
          <p:nvPr/>
        </p:nvPicPr>
        <p:blipFill>
          <a:blip r:embed="rId4"/>
          <a:stretch>
            <a:fillRect/>
          </a:stretch>
        </p:blipFill>
        <p:spPr>
          <a:xfrm>
            <a:off x="8789895" y="3220618"/>
            <a:ext cx="2563905" cy="780676"/>
          </a:xfrm>
          <a:prstGeom prst="rect">
            <a:avLst/>
          </a:prstGeom>
        </p:spPr>
      </p:pic>
      <p:pic>
        <p:nvPicPr>
          <p:cNvPr id="11" name="Picture 10">
            <a:extLst>
              <a:ext uri="{FF2B5EF4-FFF2-40B4-BE49-F238E27FC236}">
                <a16:creationId xmlns:a16="http://schemas.microsoft.com/office/drawing/2014/main" id="{1319DBD1-0BAA-4338-8CB8-6AAEB22DCCD2}"/>
              </a:ext>
            </a:extLst>
          </p:cNvPr>
          <p:cNvPicPr>
            <a:picLocks noChangeAspect="1"/>
          </p:cNvPicPr>
          <p:nvPr/>
        </p:nvPicPr>
        <p:blipFill>
          <a:blip r:embed="rId5"/>
          <a:stretch>
            <a:fillRect/>
          </a:stretch>
        </p:blipFill>
        <p:spPr>
          <a:xfrm>
            <a:off x="8865878" y="2016214"/>
            <a:ext cx="2155344" cy="743941"/>
          </a:xfrm>
          <a:prstGeom prst="rect">
            <a:avLst/>
          </a:prstGeom>
        </p:spPr>
      </p:pic>
    </p:spTree>
    <p:extLst>
      <p:ext uri="{BB962C8B-B14F-4D97-AF65-F5344CB8AC3E}">
        <p14:creationId xmlns:p14="http://schemas.microsoft.com/office/powerpoint/2010/main" val="2328505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E4332-7488-4326-A409-059AFBC683E8}"/>
              </a:ext>
            </a:extLst>
          </p:cNvPr>
          <p:cNvSpPr>
            <a:spLocks noGrp="1"/>
          </p:cNvSpPr>
          <p:nvPr>
            <p:ph type="title"/>
          </p:nvPr>
        </p:nvSpPr>
        <p:spPr/>
        <p:txBody>
          <a:bodyPr>
            <a:normAutofit/>
          </a:bodyPr>
          <a:lstStyle/>
          <a:p>
            <a:r>
              <a:rPr lang="en-US" dirty="0"/>
              <a:t>To write in Observation Book</a:t>
            </a:r>
            <a:endParaRPr lang="en-IN" dirty="0"/>
          </a:p>
        </p:txBody>
      </p:sp>
      <p:sp>
        <p:nvSpPr>
          <p:cNvPr id="3" name="Content Placeholder 2">
            <a:extLst>
              <a:ext uri="{FF2B5EF4-FFF2-40B4-BE49-F238E27FC236}">
                <a16:creationId xmlns:a16="http://schemas.microsoft.com/office/drawing/2014/main" id="{A52D6E6C-7E2C-4218-8E9D-E0F709622B5E}"/>
              </a:ext>
            </a:extLst>
          </p:cNvPr>
          <p:cNvSpPr>
            <a:spLocks noGrp="1"/>
          </p:cNvSpPr>
          <p:nvPr>
            <p:ph idx="1"/>
          </p:nvPr>
        </p:nvSpPr>
        <p:spPr/>
        <p:txBody>
          <a:bodyPr>
            <a:normAutofit/>
          </a:bodyPr>
          <a:lstStyle/>
          <a:p>
            <a:pPr marL="0" indent="0" algn="just">
              <a:buNone/>
            </a:pPr>
            <a:r>
              <a:rPr lang="en-US" sz="1800" b="0" i="0" dirty="0">
                <a:solidFill>
                  <a:srgbClr val="404040"/>
                </a:solidFill>
                <a:effectLst/>
                <a:latin typeface="Inter"/>
              </a:rPr>
              <a:t>1. Consider a binary classification problem where we want to predict whether a student will pass or fail based on their study hours. The logistic regression model has been trained, and the learned parameters are </a:t>
            </a:r>
            <a:r>
              <a:rPr lang="en-US" sz="1800" b="0" i="0" dirty="0">
                <a:solidFill>
                  <a:srgbClr val="404040"/>
                </a:solidFill>
                <a:effectLst/>
                <a:latin typeface="KaTeX_Main"/>
              </a:rPr>
              <a:t>a0=−5</a:t>
            </a:r>
            <a:r>
              <a:rPr lang="en-US" sz="1800" b="0" i="0" dirty="0">
                <a:solidFill>
                  <a:srgbClr val="404040"/>
                </a:solidFill>
                <a:effectLst/>
                <a:latin typeface="Inter"/>
              </a:rPr>
              <a:t> (intercept) and </a:t>
            </a:r>
            <a:r>
              <a:rPr lang="en-US" sz="1800" b="0" i="0" dirty="0">
                <a:solidFill>
                  <a:srgbClr val="404040"/>
                </a:solidFill>
                <a:effectLst/>
                <a:latin typeface="KaTeX_Main"/>
              </a:rPr>
              <a:t>a1=0.8</a:t>
            </a:r>
            <a:r>
              <a:rPr lang="en-US" sz="1800" b="0" i="0" dirty="0">
                <a:solidFill>
                  <a:srgbClr val="404040"/>
                </a:solidFill>
                <a:effectLst/>
                <a:latin typeface="Inter"/>
              </a:rPr>
              <a:t> (coefficient for study hours).</a:t>
            </a:r>
          </a:p>
          <a:p>
            <a:pPr marL="0" indent="0" algn="just">
              <a:buNone/>
            </a:pPr>
            <a:r>
              <a:rPr lang="en-US" sz="1800" b="0" i="0" dirty="0">
                <a:solidFill>
                  <a:srgbClr val="404040"/>
                </a:solidFill>
                <a:effectLst/>
                <a:latin typeface="Inter"/>
              </a:rPr>
              <a:t>a. Write the logistic regression equation for this problem.</a:t>
            </a:r>
          </a:p>
          <a:p>
            <a:pPr marL="0" indent="0" algn="just">
              <a:spcBef>
                <a:spcPts val="300"/>
              </a:spcBef>
              <a:buNone/>
            </a:pPr>
            <a:r>
              <a:rPr lang="en-US" sz="1800" b="0" i="0" dirty="0">
                <a:solidFill>
                  <a:srgbClr val="404040"/>
                </a:solidFill>
                <a:effectLst/>
                <a:latin typeface="Inter"/>
              </a:rPr>
              <a:t>b. Calculate the probability that a student who studies for 7 hours will pass.</a:t>
            </a:r>
          </a:p>
          <a:p>
            <a:pPr marL="0" indent="0" algn="just">
              <a:spcBef>
                <a:spcPts val="300"/>
              </a:spcBef>
              <a:buNone/>
            </a:pPr>
            <a:r>
              <a:rPr lang="en-US" sz="1800" b="0" i="0" dirty="0">
                <a:solidFill>
                  <a:srgbClr val="404040"/>
                </a:solidFill>
                <a:effectLst/>
                <a:latin typeface="Inter"/>
              </a:rPr>
              <a:t>c. Determine the predicted class (pass or fail) for this student based on a threshold of 0.5.</a:t>
            </a:r>
          </a:p>
          <a:p>
            <a:pPr marL="0" indent="0" algn="just">
              <a:spcBef>
                <a:spcPts val="300"/>
              </a:spcBef>
              <a:buNone/>
            </a:pPr>
            <a:endParaRPr lang="en-US" sz="1800" dirty="0">
              <a:solidFill>
                <a:srgbClr val="404040"/>
              </a:solidFill>
              <a:latin typeface="Inter"/>
            </a:endParaRPr>
          </a:p>
          <a:p>
            <a:pPr marL="0" indent="0" algn="just">
              <a:spcBef>
                <a:spcPts val="300"/>
              </a:spcBef>
              <a:buNone/>
            </a:pPr>
            <a:r>
              <a:rPr lang="en-US" sz="1800" b="0" i="0" dirty="0">
                <a:solidFill>
                  <a:srgbClr val="404040"/>
                </a:solidFill>
                <a:effectLst/>
                <a:latin typeface="Inter"/>
              </a:rPr>
              <a:t>2. Consider z=[2,1,0] for three classes. Apply SoftMax function to find the probability values of three classes.</a:t>
            </a:r>
          </a:p>
          <a:p>
            <a:pPr marL="0" indent="0" algn="just">
              <a:spcBef>
                <a:spcPts val="300"/>
              </a:spcBef>
              <a:buNone/>
            </a:pPr>
            <a:endParaRPr lang="en-US" sz="1800" b="0" i="0" dirty="0">
              <a:solidFill>
                <a:srgbClr val="404040"/>
              </a:solidFill>
              <a:effectLst/>
              <a:latin typeface="Inter"/>
            </a:endParaRPr>
          </a:p>
          <a:p>
            <a:pPr marL="0" indent="0">
              <a:buNone/>
            </a:pPr>
            <a:endParaRPr lang="en-IN" sz="1800" dirty="0"/>
          </a:p>
        </p:txBody>
      </p:sp>
    </p:spTree>
    <p:extLst>
      <p:ext uri="{BB962C8B-B14F-4D97-AF65-F5344CB8AC3E}">
        <p14:creationId xmlns:p14="http://schemas.microsoft.com/office/powerpoint/2010/main" val="3298937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Confusion Matrix</a:t>
            </a:r>
          </a:p>
        </p:txBody>
      </p:sp>
      <p:sp>
        <p:nvSpPr>
          <p:cNvPr id="3" name="Content Placeholder 2"/>
          <p:cNvSpPr>
            <a:spLocks noGrp="1"/>
          </p:cNvSpPr>
          <p:nvPr>
            <p:ph idx="1"/>
          </p:nvPr>
        </p:nvSpPr>
        <p:spPr/>
        <p:txBody>
          <a:bodyPr/>
          <a:lstStyle/>
          <a:p>
            <a:r>
              <a:rPr lang="en-US" sz="2000" dirty="0"/>
              <a:t>In the field of machine learning, a confusion matrix is a specific table layout that allows visualization of the performance of an algorithm.</a:t>
            </a:r>
          </a:p>
          <a:p>
            <a:r>
              <a:rPr lang="en-US" sz="2000" dirty="0"/>
              <a:t>A confusion matrix contains information about actual and predicted classifications done by a classification system.</a:t>
            </a:r>
          </a:p>
        </p:txBody>
      </p:sp>
      <p:graphicFrame>
        <p:nvGraphicFramePr>
          <p:cNvPr id="5" name="Table 4"/>
          <p:cNvGraphicFramePr>
            <a:graphicFrameLocks noGrp="1"/>
          </p:cNvGraphicFramePr>
          <p:nvPr/>
        </p:nvGraphicFramePr>
        <p:xfrm>
          <a:off x="2667000" y="3200400"/>
          <a:ext cx="6248400" cy="2072640"/>
        </p:xfrm>
        <a:graphic>
          <a:graphicData uri="http://schemas.openxmlformats.org/drawingml/2006/table">
            <a:tbl>
              <a:tblPr firstRow="1" bandRow="1">
                <a:tableStyleId>{C4B1156A-380E-4F78-BDF5-A606A8083BF9}</a:tableStyleId>
              </a:tblPr>
              <a:tblGrid>
                <a:gridCol w="1093470">
                  <a:extLst>
                    <a:ext uri="{9D8B030D-6E8A-4147-A177-3AD203B41FA5}">
                      <a16:colId xmlns:a16="http://schemas.microsoft.com/office/drawing/2014/main" val="20000"/>
                    </a:ext>
                  </a:extLst>
                </a:gridCol>
                <a:gridCol w="2361528">
                  <a:extLst>
                    <a:ext uri="{9D8B030D-6E8A-4147-A177-3AD203B41FA5}">
                      <a16:colId xmlns:a16="http://schemas.microsoft.com/office/drawing/2014/main" val="20001"/>
                    </a:ext>
                  </a:extLst>
                </a:gridCol>
                <a:gridCol w="2793402">
                  <a:extLst>
                    <a:ext uri="{9D8B030D-6E8A-4147-A177-3AD203B41FA5}">
                      <a16:colId xmlns:a16="http://schemas.microsoft.com/office/drawing/2014/main" val="20002"/>
                    </a:ext>
                  </a:extLst>
                </a:gridCol>
              </a:tblGrid>
              <a:tr h="586273">
                <a:tc>
                  <a:txBody>
                    <a:bodyPr/>
                    <a:lstStyle/>
                    <a:p>
                      <a:endParaRPr lang="en-US" sz="2000" dirty="0"/>
                    </a:p>
                  </a:txBody>
                  <a:tcPr>
                    <a:solidFill>
                      <a:schemeClr val="bg1"/>
                    </a:solidFill>
                  </a:tcPr>
                </a:tc>
                <a:tc gridSpan="2">
                  <a:txBody>
                    <a:bodyPr/>
                    <a:lstStyle/>
                    <a:p>
                      <a:pPr algn="ctr"/>
                      <a:r>
                        <a:rPr lang="en-US" sz="2000" dirty="0"/>
                        <a:t>Predicted Class</a:t>
                      </a:r>
                    </a:p>
                  </a:txBody>
                  <a:tcPr>
                    <a:solidFill>
                      <a:schemeClr val="bg1"/>
                    </a:solidFill>
                  </a:tcPr>
                </a:tc>
                <a:tc hMerge="1">
                  <a:txBody>
                    <a:bodyPr/>
                    <a:lstStyle/>
                    <a:p>
                      <a:endParaRPr lang="en-US" dirty="0"/>
                    </a:p>
                  </a:txBody>
                  <a:tcPr>
                    <a:solidFill>
                      <a:schemeClr val="bg1"/>
                    </a:solidFill>
                  </a:tcPr>
                </a:tc>
                <a:extLst>
                  <a:ext uri="{0D108BD9-81ED-4DB2-BD59-A6C34878D82A}">
                    <a16:rowId xmlns:a16="http://schemas.microsoft.com/office/drawing/2014/main" val="10000"/>
                  </a:ext>
                </a:extLst>
              </a:tr>
              <a:tr h="785327">
                <a:tc rowSpan="2">
                  <a:txBody>
                    <a:bodyPr/>
                    <a:lstStyle/>
                    <a:p>
                      <a:r>
                        <a:rPr lang="en-US" sz="2000" b="1" dirty="0"/>
                        <a:t>Actual</a:t>
                      </a:r>
                    </a:p>
                    <a:p>
                      <a:r>
                        <a:rPr lang="en-US" sz="2000" b="1" dirty="0"/>
                        <a:t>Class</a:t>
                      </a:r>
                    </a:p>
                  </a:txBody>
                  <a:tcPr>
                    <a:solidFill>
                      <a:schemeClr val="bg1"/>
                    </a:solidFill>
                  </a:tcPr>
                </a:tc>
                <a:tc>
                  <a:txBody>
                    <a:bodyPr/>
                    <a:lstStyle/>
                    <a:p>
                      <a:r>
                        <a:rPr lang="en-US" sz="2000" dirty="0"/>
                        <a:t>True Positive</a:t>
                      </a:r>
                    </a:p>
                  </a:txBody>
                  <a:tcPr>
                    <a:solidFill>
                      <a:schemeClr val="bg1"/>
                    </a:solidFill>
                  </a:tcPr>
                </a:tc>
                <a:tc>
                  <a:txBody>
                    <a:bodyPr/>
                    <a:lstStyle/>
                    <a:p>
                      <a:r>
                        <a:rPr lang="en-US" sz="2000" dirty="0"/>
                        <a:t>     False Negative</a:t>
                      </a:r>
                    </a:p>
                  </a:txBody>
                  <a:tcPr>
                    <a:solidFill>
                      <a:schemeClr val="bg1"/>
                    </a:solidFill>
                  </a:tcPr>
                </a:tc>
                <a:extLst>
                  <a:ext uri="{0D108BD9-81ED-4DB2-BD59-A6C34878D82A}">
                    <a16:rowId xmlns:a16="http://schemas.microsoft.com/office/drawing/2014/main" val="10001"/>
                  </a:ext>
                </a:extLst>
              </a:tr>
              <a:tr h="586273">
                <a:tc vMerge="1">
                  <a:txBody>
                    <a:bodyPr/>
                    <a:lstStyle/>
                    <a:p>
                      <a:endParaRPr lang="en-US" dirty="0"/>
                    </a:p>
                  </a:txBody>
                  <a:tcPr>
                    <a:solidFill>
                      <a:schemeClr val="bg1"/>
                    </a:solidFill>
                  </a:tcPr>
                </a:tc>
                <a:tc>
                  <a:txBody>
                    <a:bodyPr/>
                    <a:lstStyle/>
                    <a:p>
                      <a:endParaRPr lang="en-US" sz="2000" dirty="0"/>
                    </a:p>
                    <a:p>
                      <a:r>
                        <a:rPr lang="en-US" sz="2000" dirty="0"/>
                        <a:t>False Positive</a:t>
                      </a:r>
                    </a:p>
                  </a:txBody>
                  <a:tcPr>
                    <a:solidFill>
                      <a:schemeClr val="bg1"/>
                    </a:solidFill>
                  </a:tcPr>
                </a:tc>
                <a:tc>
                  <a:txBody>
                    <a:bodyPr/>
                    <a:lstStyle/>
                    <a:p>
                      <a:r>
                        <a:rPr lang="en-US" sz="2000" dirty="0"/>
                        <a:t>      </a:t>
                      </a:r>
                    </a:p>
                    <a:p>
                      <a:r>
                        <a:rPr lang="en-US" sz="2000" dirty="0"/>
                        <a:t>         True Negative</a:t>
                      </a:r>
                    </a:p>
                  </a:txBody>
                  <a:tcPr>
                    <a:solidFill>
                      <a:schemeClr val="bg1"/>
                    </a:solidFill>
                  </a:tcPr>
                </a:tc>
                <a:extLst>
                  <a:ext uri="{0D108BD9-81ED-4DB2-BD59-A6C34878D82A}">
                    <a16:rowId xmlns:a16="http://schemas.microsoft.com/office/drawing/2014/main" val="10002"/>
                  </a:ext>
                </a:extLst>
              </a:tr>
            </a:tbl>
          </a:graphicData>
        </a:graphic>
      </p:graphicFrame>
      <p:cxnSp>
        <p:nvCxnSpPr>
          <p:cNvPr id="10" name="Straight Arrow Connector 9"/>
          <p:cNvCxnSpPr/>
          <p:nvPr/>
        </p:nvCxnSpPr>
        <p:spPr bwMode="auto">
          <a:xfrm>
            <a:off x="5088148" y="4191000"/>
            <a:ext cx="2074653" cy="762000"/>
          </a:xfrm>
          <a:prstGeom prst="straightConnector1">
            <a:avLst/>
          </a:prstGeom>
          <a:solidFill>
            <a:schemeClr val="accent1"/>
          </a:solidFill>
          <a:ln w="63500" cap="flat" cmpd="sng" algn="ctr">
            <a:solidFill>
              <a:srgbClr val="0000FF"/>
            </a:solidFill>
            <a:prstDash val="solid"/>
            <a:round/>
            <a:headEnd type="arrow"/>
            <a:tailEnd type="arrow"/>
          </a:ln>
          <a:effectLst/>
        </p:spPr>
      </p:cxnSp>
      <p:cxnSp>
        <p:nvCxnSpPr>
          <p:cNvPr id="17" name="Straight Arrow Connector 16"/>
          <p:cNvCxnSpPr/>
          <p:nvPr/>
        </p:nvCxnSpPr>
        <p:spPr bwMode="auto">
          <a:xfrm flipV="1">
            <a:off x="5181600" y="4191000"/>
            <a:ext cx="1981200" cy="762000"/>
          </a:xfrm>
          <a:prstGeom prst="straightConnector1">
            <a:avLst/>
          </a:prstGeom>
          <a:solidFill>
            <a:schemeClr val="accent1"/>
          </a:solidFill>
          <a:ln w="63500" cap="flat" cmpd="sng" algn="ctr">
            <a:solidFill>
              <a:srgbClr val="FF0000"/>
            </a:solidFill>
            <a:prstDash val="solid"/>
            <a:round/>
            <a:headEnd type="arrow"/>
            <a:tailEnd type="arrow"/>
          </a:ln>
          <a:effectLst/>
        </p:spPr>
      </p:cxnSp>
      <p:grpSp>
        <p:nvGrpSpPr>
          <p:cNvPr id="25" name="Group 24"/>
          <p:cNvGrpSpPr/>
          <p:nvPr/>
        </p:nvGrpSpPr>
        <p:grpSpPr>
          <a:xfrm>
            <a:off x="2599427" y="5451258"/>
            <a:ext cx="3188587" cy="369332"/>
            <a:chOff x="1075426" y="5451258"/>
            <a:chExt cx="3188587" cy="369332"/>
          </a:xfrm>
        </p:grpSpPr>
        <p:cxnSp>
          <p:nvCxnSpPr>
            <p:cNvPr id="14" name="Straight Arrow Connector 13"/>
            <p:cNvCxnSpPr/>
            <p:nvPr/>
          </p:nvCxnSpPr>
          <p:spPr bwMode="auto">
            <a:xfrm>
              <a:off x="1075426" y="5638800"/>
              <a:ext cx="914400" cy="0"/>
            </a:xfrm>
            <a:prstGeom prst="straightConnector1">
              <a:avLst/>
            </a:prstGeom>
            <a:solidFill>
              <a:schemeClr val="accent1"/>
            </a:solidFill>
            <a:ln w="63500" cap="flat" cmpd="sng" algn="ctr">
              <a:solidFill>
                <a:srgbClr val="0000FF"/>
              </a:solidFill>
              <a:prstDash val="solid"/>
              <a:round/>
              <a:headEnd type="arrow"/>
              <a:tailEnd type="arrow"/>
            </a:ln>
            <a:effectLst/>
          </p:spPr>
        </p:cxnSp>
        <p:sp>
          <p:nvSpPr>
            <p:cNvPr id="22" name="TextBox 21"/>
            <p:cNvSpPr txBox="1"/>
            <p:nvPr/>
          </p:nvSpPr>
          <p:spPr>
            <a:xfrm>
              <a:off x="2113103" y="5451258"/>
              <a:ext cx="2150910" cy="369332"/>
            </a:xfrm>
            <a:prstGeom prst="rect">
              <a:avLst/>
            </a:prstGeom>
            <a:noFill/>
          </p:spPr>
          <p:txBody>
            <a:bodyPr wrap="none" rtlCol="0">
              <a:spAutoFit/>
            </a:bodyPr>
            <a:lstStyle/>
            <a:p>
              <a:r>
                <a:rPr lang="en-US" dirty="0"/>
                <a:t>Correct Classification</a:t>
              </a:r>
            </a:p>
          </p:txBody>
        </p:sp>
      </p:grpSp>
      <p:grpSp>
        <p:nvGrpSpPr>
          <p:cNvPr id="24" name="Group 23"/>
          <p:cNvGrpSpPr/>
          <p:nvPr/>
        </p:nvGrpSpPr>
        <p:grpSpPr>
          <a:xfrm>
            <a:off x="2580736" y="5931462"/>
            <a:ext cx="3404181" cy="369332"/>
            <a:chOff x="1056735" y="5931462"/>
            <a:chExt cx="3404181" cy="369332"/>
          </a:xfrm>
        </p:grpSpPr>
        <p:cxnSp>
          <p:nvCxnSpPr>
            <p:cNvPr id="20" name="Straight Arrow Connector 19"/>
            <p:cNvCxnSpPr/>
            <p:nvPr/>
          </p:nvCxnSpPr>
          <p:spPr bwMode="auto">
            <a:xfrm>
              <a:off x="1056735" y="6116128"/>
              <a:ext cx="990600" cy="0"/>
            </a:xfrm>
            <a:prstGeom prst="straightConnector1">
              <a:avLst/>
            </a:prstGeom>
            <a:solidFill>
              <a:schemeClr val="accent1"/>
            </a:solidFill>
            <a:ln w="63500" cap="flat" cmpd="sng" algn="ctr">
              <a:solidFill>
                <a:srgbClr val="FF0000"/>
              </a:solidFill>
              <a:prstDash val="solid"/>
              <a:round/>
              <a:headEnd type="arrow"/>
              <a:tailEnd type="arrow"/>
            </a:ln>
            <a:effectLst/>
          </p:spPr>
        </p:cxnSp>
        <p:sp>
          <p:nvSpPr>
            <p:cNvPr id="23" name="TextBox 22"/>
            <p:cNvSpPr txBox="1"/>
            <p:nvPr/>
          </p:nvSpPr>
          <p:spPr>
            <a:xfrm>
              <a:off x="2158041" y="5931462"/>
              <a:ext cx="2302875" cy="369332"/>
            </a:xfrm>
            <a:prstGeom prst="rect">
              <a:avLst/>
            </a:prstGeom>
            <a:noFill/>
          </p:spPr>
          <p:txBody>
            <a:bodyPr wrap="none" rtlCol="0">
              <a:spAutoFit/>
            </a:bodyPr>
            <a:lstStyle/>
            <a:p>
              <a:r>
                <a:rPr lang="en-US" dirty="0"/>
                <a:t>Incorrect Classification</a:t>
              </a:r>
            </a:p>
          </p:txBody>
        </p:sp>
      </p:grpSp>
    </p:spTree>
    <p:extLst>
      <p:ext uri="{BB962C8B-B14F-4D97-AF65-F5344CB8AC3E}">
        <p14:creationId xmlns:p14="http://schemas.microsoft.com/office/powerpoint/2010/main" val="1622251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Confusion Matrix - Example</a:t>
            </a:r>
          </a:p>
        </p:txBody>
      </p:sp>
      <p:sp>
        <p:nvSpPr>
          <p:cNvPr id="3" name="Content Placeholder 2"/>
          <p:cNvSpPr>
            <a:spLocks noGrp="1"/>
          </p:cNvSpPr>
          <p:nvPr>
            <p:ph idx="1"/>
          </p:nvPr>
        </p:nvSpPr>
        <p:spPr/>
        <p:txBody>
          <a:bodyPr/>
          <a:lstStyle/>
          <a:p>
            <a:endParaRPr lang="en-US" sz="2000" dirty="0"/>
          </a:p>
        </p:txBody>
      </p:sp>
      <p:graphicFrame>
        <p:nvGraphicFramePr>
          <p:cNvPr id="5" name="Table 4"/>
          <p:cNvGraphicFramePr>
            <a:graphicFrameLocks noGrp="1"/>
          </p:cNvGraphicFramePr>
          <p:nvPr/>
        </p:nvGraphicFramePr>
        <p:xfrm>
          <a:off x="1905001" y="1295401"/>
          <a:ext cx="8315865" cy="3406919"/>
        </p:xfrm>
        <a:graphic>
          <a:graphicData uri="http://schemas.openxmlformats.org/drawingml/2006/table">
            <a:tbl>
              <a:tblPr firstRow="1" bandRow="1">
                <a:tableStyleId>{C4B1156A-380E-4F78-BDF5-A606A8083BF9}</a:tableStyleId>
              </a:tblPr>
              <a:tblGrid>
                <a:gridCol w="124759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3019610">
                  <a:extLst>
                    <a:ext uri="{9D8B030D-6E8A-4147-A177-3AD203B41FA5}">
                      <a16:colId xmlns:a16="http://schemas.microsoft.com/office/drawing/2014/main" val="20002"/>
                    </a:ext>
                  </a:extLst>
                </a:gridCol>
                <a:gridCol w="3134265">
                  <a:extLst>
                    <a:ext uri="{9D8B030D-6E8A-4147-A177-3AD203B41FA5}">
                      <a16:colId xmlns:a16="http://schemas.microsoft.com/office/drawing/2014/main" val="20003"/>
                    </a:ext>
                  </a:extLst>
                </a:gridCol>
              </a:tblGrid>
              <a:tr h="381156">
                <a:tc rowSpan="2" gridSpan="2">
                  <a:txBody>
                    <a:bodyPr/>
                    <a:lstStyle/>
                    <a:p>
                      <a:endParaRPr lang="en-US" sz="1600" dirty="0"/>
                    </a:p>
                  </a:txBody>
                  <a:tcPr>
                    <a:solidFill>
                      <a:schemeClr val="bg1"/>
                    </a:solidFill>
                  </a:tcPr>
                </a:tc>
                <a:tc rowSpan="2" hMerge="1">
                  <a:txBody>
                    <a:bodyPr/>
                    <a:lstStyle/>
                    <a:p>
                      <a:endParaRPr lang="en-US" sz="2000" dirty="0"/>
                    </a:p>
                  </a:txBody>
                  <a:tcPr>
                    <a:solidFill>
                      <a:schemeClr val="bg1"/>
                    </a:solidFill>
                  </a:tcPr>
                </a:tc>
                <a:tc gridSpan="2">
                  <a:txBody>
                    <a:bodyPr/>
                    <a:lstStyle/>
                    <a:p>
                      <a:pPr algn="ctr"/>
                      <a:r>
                        <a:rPr lang="en-US" sz="1600" b="0" dirty="0"/>
                        <a:t>Predicted Class</a:t>
                      </a:r>
                    </a:p>
                  </a:txBody>
                  <a:tcPr>
                    <a:solidFill>
                      <a:schemeClr val="bg1"/>
                    </a:solidFill>
                  </a:tcPr>
                </a:tc>
                <a:tc hMerge="1">
                  <a:txBody>
                    <a:bodyPr/>
                    <a:lstStyle/>
                    <a:p>
                      <a:endParaRPr lang="en-US"/>
                    </a:p>
                  </a:txBody>
                  <a:tcPr/>
                </a:tc>
                <a:extLst>
                  <a:ext uri="{0D108BD9-81ED-4DB2-BD59-A6C34878D82A}">
                    <a16:rowId xmlns:a16="http://schemas.microsoft.com/office/drawing/2014/main" val="10000"/>
                  </a:ext>
                </a:extLst>
              </a:tr>
              <a:tr h="404483">
                <a:tc gridSpan="2" vMerge="1">
                  <a:txBody>
                    <a:bodyPr/>
                    <a:lstStyle/>
                    <a:p>
                      <a:endParaRPr lang="en-US" sz="2000" dirty="0"/>
                    </a:p>
                  </a:txBody>
                  <a:tcPr>
                    <a:solidFill>
                      <a:schemeClr val="bg1"/>
                    </a:solidFill>
                  </a:tcPr>
                </a:tc>
                <a:tc hMerge="1" vMerge="1">
                  <a:txBody>
                    <a:bodyPr/>
                    <a:lstStyle/>
                    <a:p>
                      <a:endParaRPr lang="en-US" sz="2000" dirty="0"/>
                    </a:p>
                  </a:txBody>
                  <a:tcPr>
                    <a:solidFill>
                      <a:schemeClr val="bg1"/>
                    </a:solidFill>
                  </a:tcPr>
                </a:tc>
                <a:tc>
                  <a:txBody>
                    <a:bodyPr/>
                    <a:lstStyle/>
                    <a:p>
                      <a:pPr algn="ctr"/>
                      <a:r>
                        <a:rPr lang="en-US" sz="1600" b="0" dirty="0"/>
                        <a:t>Cat</a:t>
                      </a:r>
                    </a:p>
                  </a:txBody>
                  <a:tcPr>
                    <a:solidFill>
                      <a:schemeClr val="bg1"/>
                    </a:solidFill>
                  </a:tcPr>
                </a:tc>
                <a:tc>
                  <a:txBody>
                    <a:bodyPr/>
                    <a:lstStyle/>
                    <a:p>
                      <a:pPr algn="ctr"/>
                      <a:r>
                        <a:rPr lang="en-US" sz="1600" b="0" dirty="0"/>
                        <a:t>Dog</a:t>
                      </a:r>
                    </a:p>
                  </a:txBody>
                  <a:tcPr>
                    <a:solidFill>
                      <a:schemeClr val="bg1"/>
                    </a:solidFill>
                  </a:tcPr>
                </a:tc>
                <a:extLst>
                  <a:ext uri="{0D108BD9-81ED-4DB2-BD59-A6C34878D82A}">
                    <a16:rowId xmlns:a16="http://schemas.microsoft.com/office/drawing/2014/main" val="10001"/>
                  </a:ext>
                </a:extLst>
              </a:tr>
              <a:tr h="1113454">
                <a:tc rowSpan="2">
                  <a:txBody>
                    <a:bodyPr/>
                    <a:lstStyle/>
                    <a:p>
                      <a:r>
                        <a:rPr lang="en-US" sz="1800" b="0" dirty="0"/>
                        <a:t>Actual</a:t>
                      </a:r>
                    </a:p>
                    <a:p>
                      <a:r>
                        <a:rPr lang="en-US" sz="1800" b="0" dirty="0"/>
                        <a:t>Class</a:t>
                      </a:r>
                    </a:p>
                  </a:txBody>
                  <a:tcPr>
                    <a:solidFill>
                      <a:schemeClr val="bg1"/>
                    </a:solidFill>
                  </a:tcPr>
                </a:tc>
                <a:tc>
                  <a:txBody>
                    <a:bodyPr/>
                    <a:lstStyle/>
                    <a:p>
                      <a:r>
                        <a:rPr lang="en-US" sz="1600" b="0" dirty="0"/>
                        <a:t>Cat</a:t>
                      </a:r>
                    </a:p>
                  </a:txBody>
                  <a:tcPr>
                    <a:solidFill>
                      <a:schemeClr val="bg1"/>
                    </a:solidFill>
                  </a:tcPr>
                </a:tc>
                <a:tc>
                  <a:txBody>
                    <a:bodyPr/>
                    <a:lstStyle/>
                    <a:p>
                      <a:pPr algn="ctr"/>
                      <a:r>
                        <a:rPr lang="en-US" sz="2000" b="1" dirty="0">
                          <a:latin typeface="Times New Roman" pitchFamily="18" charset="0"/>
                          <a:cs typeface="Times New Roman" pitchFamily="18" charset="0"/>
                        </a:rPr>
                        <a:t>5 </a:t>
                      </a:r>
                    </a:p>
                    <a:p>
                      <a:pPr algn="ctr"/>
                      <a:r>
                        <a:rPr lang="en-US" sz="2000" dirty="0">
                          <a:latin typeface="Times New Roman" pitchFamily="18" charset="0"/>
                          <a:cs typeface="Times New Roman" pitchFamily="18" charset="0"/>
                        </a:rPr>
                        <a:t>True Positives</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(actual cats that were</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correctly classified as cats)</a:t>
                      </a:r>
                    </a:p>
                  </a:txBody>
                  <a:tcPr anchor="ctr">
                    <a:solidFill>
                      <a:schemeClr val="bg1"/>
                    </a:solidFill>
                  </a:tcPr>
                </a:tc>
                <a:tc>
                  <a:txBody>
                    <a:bodyPr/>
                    <a:lstStyle/>
                    <a:p>
                      <a:pPr algn="ctr"/>
                      <a:r>
                        <a:rPr lang="en-US" sz="2000" b="1" dirty="0">
                          <a:latin typeface="Times New Roman" pitchFamily="18" charset="0"/>
                          <a:cs typeface="Times New Roman" pitchFamily="18" charset="0"/>
                        </a:rPr>
                        <a:t>3 </a:t>
                      </a:r>
                    </a:p>
                    <a:p>
                      <a:pPr algn="ctr"/>
                      <a:r>
                        <a:rPr lang="en-US" sz="2000" dirty="0">
                          <a:latin typeface="Times New Roman" pitchFamily="18" charset="0"/>
                          <a:cs typeface="Times New Roman" pitchFamily="18" charset="0"/>
                        </a:rPr>
                        <a:t>False Negatives</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(cats that were</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incorrectly marked as dogs)</a:t>
                      </a:r>
                    </a:p>
                  </a:txBody>
                  <a:tcPr anchor="ctr">
                    <a:solidFill>
                      <a:schemeClr val="bg1"/>
                    </a:solidFill>
                  </a:tcPr>
                </a:tc>
                <a:extLst>
                  <a:ext uri="{0D108BD9-81ED-4DB2-BD59-A6C34878D82A}">
                    <a16:rowId xmlns:a16="http://schemas.microsoft.com/office/drawing/2014/main" val="10002"/>
                  </a:ext>
                </a:extLst>
              </a:tr>
              <a:tr h="895584">
                <a:tc vMerge="1">
                  <a:txBody>
                    <a:bodyPr/>
                    <a:lstStyle/>
                    <a:p>
                      <a:endParaRPr lang="en-US"/>
                    </a:p>
                  </a:txBody>
                  <a:tcPr/>
                </a:tc>
                <a:tc>
                  <a:txBody>
                    <a:bodyPr/>
                    <a:lstStyle/>
                    <a:p>
                      <a:r>
                        <a:rPr lang="en-US" sz="1600" b="0" dirty="0"/>
                        <a:t>Dog</a:t>
                      </a:r>
                    </a:p>
                  </a:txBody>
                  <a:tcPr>
                    <a:solidFill>
                      <a:schemeClr val="bg1"/>
                    </a:solidFill>
                  </a:tcPr>
                </a:tc>
                <a:tc>
                  <a:txBody>
                    <a:bodyPr/>
                    <a:lstStyle/>
                    <a:p>
                      <a:pPr algn="ctr"/>
                      <a:r>
                        <a:rPr lang="en-US" sz="2000" b="1" dirty="0">
                          <a:latin typeface="Times New Roman" pitchFamily="18" charset="0"/>
                          <a:cs typeface="Times New Roman" pitchFamily="18" charset="0"/>
                        </a:rPr>
                        <a:t>2</a:t>
                      </a:r>
                    </a:p>
                    <a:p>
                      <a:pPr algn="ctr"/>
                      <a:r>
                        <a:rPr lang="en-US" sz="2000" dirty="0">
                          <a:latin typeface="Times New Roman" pitchFamily="18" charset="0"/>
                          <a:cs typeface="Times New Roman" pitchFamily="18" charset="0"/>
                        </a:rPr>
                        <a:t>False Positives</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(dogs that were</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incorrectly labeled as cats)</a:t>
                      </a:r>
                    </a:p>
                  </a:txBody>
                  <a:tcPr anchor="ctr">
                    <a:solidFill>
                      <a:schemeClr val="bg1"/>
                    </a:solidFill>
                  </a:tcPr>
                </a:tc>
                <a:tc>
                  <a:txBody>
                    <a:bodyPr/>
                    <a:lstStyle/>
                    <a:p>
                      <a:pPr algn="ctr"/>
                      <a:r>
                        <a:rPr lang="en-US" sz="2000" b="1" dirty="0">
                          <a:latin typeface="Times New Roman" pitchFamily="18" charset="0"/>
                          <a:cs typeface="Times New Roman" pitchFamily="18" charset="0"/>
                        </a:rPr>
                        <a:t>3</a:t>
                      </a:r>
                      <a:r>
                        <a:rPr lang="en-US" sz="2000" dirty="0">
                          <a:latin typeface="Times New Roman" pitchFamily="18" charset="0"/>
                          <a:cs typeface="Times New Roman" pitchFamily="18" charset="0"/>
                        </a:rPr>
                        <a:t> </a:t>
                      </a:r>
                    </a:p>
                    <a:p>
                      <a:pPr algn="ctr"/>
                      <a:r>
                        <a:rPr lang="en-US" sz="2000" dirty="0">
                          <a:latin typeface="Times New Roman" pitchFamily="18" charset="0"/>
                          <a:cs typeface="Times New Roman" pitchFamily="18" charset="0"/>
                        </a:rPr>
                        <a:t>True Negatives</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(actual dogs that were</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correctly classified as dogs)</a:t>
                      </a:r>
                    </a:p>
                  </a:txBody>
                  <a:tcPr anchor="ctr">
                    <a:solidFill>
                      <a:schemeClr val="bg1"/>
                    </a:solidFill>
                  </a:tcPr>
                </a:tc>
                <a:extLst>
                  <a:ext uri="{0D108BD9-81ED-4DB2-BD59-A6C34878D82A}">
                    <a16:rowId xmlns:a16="http://schemas.microsoft.com/office/drawing/2014/main" val="10003"/>
                  </a:ext>
                </a:extLst>
              </a:tr>
            </a:tbl>
          </a:graphicData>
        </a:graphic>
      </p:graphicFrame>
      <p:grpSp>
        <p:nvGrpSpPr>
          <p:cNvPr id="7" name="Group 6"/>
          <p:cNvGrpSpPr/>
          <p:nvPr/>
        </p:nvGrpSpPr>
        <p:grpSpPr>
          <a:xfrm>
            <a:off x="6002548" y="3124200"/>
            <a:ext cx="2074653" cy="762000"/>
            <a:chOff x="4478547" y="3124200"/>
            <a:chExt cx="2074653" cy="762000"/>
          </a:xfrm>
        </p:grpSpPr>
        <p:cxnSp>
          <p:nvCxnSpPr>
            <p:cNvPr id="10" name="Straight Arrow Connector 9"/>
            <p:cNvCxnSpPr/>
            <p:nvPr/>
          </p:nvCxnSpPr>
          <p:spPr bwMode="auto">
            <a:xfrm>
              <a:off x="4478547" y="3124200"/>
              <a:ext cx="2074653" cy="762000"/>
            </a:xfrm>
            <a:prstGeom prst="straightConnector1">
              <a:avLst/>
            </a:prstGeom>
            <a:solidFill>
              <a:schemeClr val="accent1"/>
            </a:solidFill>
            <a:ln w="63500" cap="flat" cmpd="sng" algn="ctr">
              <a:solidFill>
                <a:srgbClr val="0000FF">
                  <a:alpha val="49000"/>
                </a:srgbClr>
              </a:solidFill>
              <a:prstDash val="solid"/>
              <a:round/>
              <a:headEnd type="arrow"/>
              <a:tailEnd type="arrow"/>
            </a:ln>
            <a:effectLst/>
          </p:spPr>
        </p:cxnSp>
        <p:cxnSp>
          <p:nvCxnSpPr>
            <p:cNvPr id="17" name="Straight Arrow Connector 16"/>
            <p:cNvCxnSpPr/>
            <p:nvPr/>
          </p:nvCxnSpPr>
          <p:spPr bwMode="auto">
            <a:xfrm flipV="1">
              <a:off x="4572000" y="3124200"/>
              <a:ext cx="1981200" cy="762000"/>
            </a:xfrm>
            <a:prstGeom prst="straightConnector1">
              <a:avLst/>
            </a:prstGeom>
            <a:solidFill>
              <a:schemeClr val="accent1"/>
            </a:solidFill>
            <a:ln w="63500" cap="flat" cmpd="sng" algn="ctr">
              <a:solidFill>
                <a:srgbClr val="FF0000">
                  <a:alpha val="49000"/>
                </a:srgbClr>
              </a:solidFill>
              <a:prstDash val="solid"/>
              <a:round/>
              <a:headEnd type="arrow"/>
              <a:tailEnd type="arrow"/>
            </a:ln>
            <a:effectLst/>
          </p:spPr>
        </p:cxnSp>
      </p:grpSp>
      <p:grpSp>
        <p:nvGrpSpPr>
          <p:cNvPr id="9" name="Group 8"/>
          <p:cNvGrpSpPr/>
          <p:nvPr/>
        </p:nvGrpSpPr>
        <p:grpSpPr>
          <a:xfrm>
            <a:off x="2756308" y="4881744"/>
            <a:ext cx="6070348" cy="347678"/>
            <a:chOff x="1232308" y="4881744"/>
            <a:chExt cx="6070348" cy="347678"/>
          </a:xfrm>
        </p:grpSpPr>
        <p:cxnSp>
          <p:nvCxnSpPr>
            <p:cNvPr id="14" name="Straight Arrow Connector 13"/>
            <p:cNvCxnSpPr/>
            <p:nvPr/>
          </p:nvCxnSpPr>
          <p:spPr bwMode="auto">
            <a:xfrm>
              <a:off x="1232308" y="5047572"/>
              <a:ext cx="664733" cy="0"/>
            </a:xfrm>
            <a:prstGeom prst="straightConnector1">
              <a:avLst/>
            </a:prstGeom>
            <a:solidFill>
              <a:schemeClr val="accent1"/>
            </a:solidFill>
            <a:ln w="63500" cap="flat" cmpd="sng" algn="ctr">
              <a:solidFill>
                <a:srgbClr val="0000FF">
                  <a:alpha val="49000"/>
                </a:srgbClr>
              </a:solidFill>
              <a:prstDash val="solid"/>
              <a:round/>
              <a:headEnd type="arrow"/>
              <a:tailEnd type="arrow"/>
            </a:ln>
            <a:effectLst/>
          </p:spPr>
        </p:cxnSp>
        <p:sp>
          <p:nvSpPr>
            <p:cNvPr id="22" name="TextBox 21"/>
            <p:cNvSpPr txBox="1"/>
            <p:nvPr/>
          </p:nvSpPr>
          <p:spPr>
            <a:xfrm>
              <a:off x="1986659" y="4881744"/>
              <a:ext cx="1930400" cy="338554"/>
            </a:xfrm>
            <a:prstGeom prst="rect">
              <a:avLst/>
            </a:prstGeom>
            <a:noFill/>
          </p:spPr>
          <p:txBody>
            <a:bodyPr wrap="none" rtlCol="0">
              <a:spAutoFit/>
            </a:bodyPr>
            <a:lstStyle/>
            <a:p>
              <a:r>
                <a:rPr lang="en-US" sz="1600" dirty="0"/>
                <a:t>Correct Classification</a:t>
              </a:r>
            </a:p>
          </p:txBody>
        </p:sp>
        <p:cxnSp>
          <p:nvCxnSpPr>
            <p:cNvPr id="20" name="Straight Arrow Connector 19"/>
            <p:cNvCxnSpPr/>
            <p:nvPr/>
          </p:nvCxnSpPr>
          <p:spPr bwMode="auto">
            <a:xfrm>
              <a:off x="4437125" y="5054154"/>
              <a:ext cx="720128" cy="0"/>
            </a:xfrm>
            <a:prstGeom prst="straightConnector1">
              <a:avLst/>
            </a:prstGeom>
            <a:solidFill>
              <a:schemeClr val="accent1"/>
            </a:solidFill>
            <a:ln w="63500" cap="flat" cmpd="sng" algn="ctr">
              <a:solidFill>
                <a:srgbClr val="FF0000">
                  <a:alpha val="49000"/>
                </a:srgbClr>
              </a:solidFill>
              <a:prstDash val="solid"/>
              <a:round/>
              <a:headEnd type="arrow"/>
              <a:tailEnd type="arrow"/>
            </a:ln>
            <a:effectLst/>
          </p:spPr>
        </p:cxnSp>
        <p:sp>
          <p:nvSpPr>
            <p:cNvPr id="23" name="TextBox 22"/>
            <p:cNvSpPr txBox="1"/>
            <p:nvPr/>
          </p:nvSpPr>
          <p:spPr>
            <a:xfrm>
              <a:off x="5237732" y="4890868"/>
              <a:ext cx="2064924" cy="338554"/>
            </a:xfrm>
            <a:prstGeom prst="rect">
              <a:avLst/>
            </a:prstGeom>
            <a:noFill/>
          </p:spPr>
          <p:txBody>
            <a:bodyPr wrap="none" rtlCol="0">
              <a:spAutoFit/>
            </a:bodyPr>
            <a:lstStyle/>
            <a:p>
              <a:r>
                <a:rPr lang="en-US" sz="1600" dirty="0"/>
                <a:t>Incorrect Classification</a:t>
              </a:r>
            </a:p>
          </p:txBody>
        </p:sp>
      </p:grpSp>
      <p:sp>
        <p:nvSpPr>
          <p:cNvPr id="8" name="TextBox 7"/>
          <p:cNvSpPr txBox="1"/>
          <p:nvPr/>
        </p:nvSpPr>
        <p:spPr>
          <a:xfrm>
            <a:off x="2308923" y="5410369"/>
            <a:ext cx="7110531" cy="830997"/>
          </a:xfrm>
          <a:prstGeom prst="rect">
            <a:avLst/>
          </a:prstGeom>
          <a:noFill/>
        </p:spPr>
        <p:txBody>
          <a:bodyPr wrap="square" rtlCol="0">
            <a:spAutoFit/>
          </a:bodyPr>
          <a:lstStyle/>
          <a:p>
            <a:r>
              <a:rPr lang="en-US" sz="1600" dirty="0"/>
              <a:t>In this confusion matrix, </a:t>
            </a:r>
          </a:p>
          <a:p>
            <a:r>
              <a:rPr lang="en-US" sz="1600" dirty="0"/>
              <a:t>of the 8 actual cats,  the system predicted that three were dogs,</a:t>
            </a:r>
          </a:p>
          <a:p>
            <a:r>
              <a:rPr lang="en-US" sz="1600" dirty="0"/>
              <a:t>and of the five dogs, it predicted that two were cats.</a:t>
            </a:r>
          </a:p>
        </p:txBody>
      </p:sp>
    </p:spTree>
    <p:extLst>
      <p:ext uri="{BB962C8B-B14F-4D97-AF65-F5344CB8AC3E}">
        <p14:creationId xmlns:p14="http://schemas.microsoft.com/office/powerpoint/2010/main" val="425704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99B1D-F1D8-4AB6-9FD8-296012DF2055}"/>
              </a:ext>
            </a:extLst>
          </p:cNvPr>
          <p:cNvSpPr>
            <a:spLocks noGrp="1"/>
          </p:cNvSpPr>
          <p:nvPr>
            <p:ph type="title"/>
          </p:nvPr>
        </p:nvSpPr>
        <p:spPr/>
        <p:txBody>
          <a:bodyPr/>
          <a:lstStyle/>
          <a:p>
            <a:r>
              <a:rPr lang="en-US" dirty="0"/>
              <a:t>Implementation</a:t>
            </a:r>
            <a:endParaRPr lang="en-IN" dirty="0"/>
          </a:p>
        </p:txBody>
      </p:sp>
      <p:sp>
        <p:nvSpPr>
          <p:cNvPr id="3" name="Content Placeholder 2">
            <a:extLst>
              <a:ext uri="{FF2B5EF4-FFF2-40B4-BE49-F238E27FC236}">
                <a16:creationId xmlns:a16="http://schemas.microsoft.com/office/drawing/2014/main" id="{96E71594-C9B3-4D34-81E6-70A70E5E22AE}"/>
              </a:ext>
            </a:extLst>
          </p:cNvPr>
          <p:cNvSpPr>
            <a:spLocks noGrp="1"/>
          </p:cNvSpPr>
          <p:nvPr>
            <p:ph idx="1"/>
          </p:nvPr>
        </p:nvSpPr>
        <p:spPr/>
        <p:txBody>
          <a:bodyPr/>
          <a:lstStyle/>
          <a:p>
            <a:pPr marL="0" indent="0">
              <a:buNone/>
            </a:pPr>
            <a:r>
              <a:rPr lang="en-US" dirty="0"/>
              <a:t>In your Google Co-lab account, execute following sample python program in the notebook.</a:t>
            </a:r>
            <a:endParaRPr lang="en-IN" dirty="0"/>
          </a:p>
          <a:p>
            <a:r>
              <a:rPr lang="en-US" dirty="0"/>
              <a:t>LogisticRegression_Binary.py</a:t>
            </a:r>
          </a:p>
          <a:p>
            <a:r>
              <a:rPr lang="en-IN" dirty="0"/>
              <a:t>LogisticRegression_Multiclass.py</a:t>
            </a:r>
          </a:p>
        </p:txBody>
      </p:sp>
    </p:spTree>
    <p:extLst>
      <p:ext uri="{BB962C8B-B14F-4D97-AF65-F5344CB8AC3E}">
        <p14:creationId xmlns:p14="http://schemas.microsoft.com/office/powerpoint/2010/main" val="1972355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5E56D-0A98-46F2-B14A-9713528DA360}"/>
              </a:ext>
            </a:extLst>
          </p:cNvPr>
          <p:cNvSpPr>
            <a:spLocks noGrp="1"/>
          </p:cNvSpPr>
          <p:nvPr>
            <p:ph type="title"/>
          </p:nvPr>
        </p:nvSpPr>
        <p:spPr/>
        <p:txBody>
          <a:bodyPr/>
          <a:lstStyle/>
          <a:p>
            <a:r>
              <a:rPr lang="en-US" dirty="0"/>
              <a:t>To Do: Implementation – Logistic Regression (Binary Classification)</a:t>
            </a:r>
            <a:endParaRPr lang="en-IN" dirty="0"/>
          </a:p>
        </p:txBody>
      </p:sp>
      <p:sp>
        <p:nvSpPr>
          <p:cNvPr id="3" name="Content Placeholder 2">
            <a:extLst>
              <a:ext uri="{FF2B5EF4-FFF2-40B4-BE49-F238E27FC236}">
                <a16:creationId xmlns:a16="http://schemas.microsoft.com/office/drawing/2014/main" id="{ED1622C3-4F16-4547-BFC8-56BC1BF3AAC7}"/>
              </a:ext>
            </a:extLst>
          </p:cNvPr>
          <p:cNvSpPr>
            <a:spLocks noGrp="1"/>
          </p:cNvSpPr>
          <p:nvPr>
            <p:ph idx="1"/>
          </p:nvPr>
        </p:nvSpPr>
        <p:spPr/>
        <p:txBody>
          <a:bodyPr>
            <a:normAutofit/>
          </a:bodyPr>
          <a:lstStyle/>
          <a:p>
            <a:pPr marL="0" indent="0">
              <a:buNone/>
            </a:pPr>
            <a:r>
              <a:rPr lang="en-US" sz="2000" dirty="0">
                <a:solidFill>
                  <a:srgbClr val="404040"/>
                </a:solidFill>
                <a:latin typeface="Inter"/>
              </a:rPr>
              <a:t>Write Python code to implement the following. Consider dataset file as “HR_comma_sep.csv”</a:t>
            </a:r>
          </a:p>
          <a:p>
            <a:pPr algn="l">
              <a:buFont typeface="+mj-lt"/>
              <a:buAutoNum type="arabicPeriod"/>
            </a:pPr>
            <a:r>
              <a:rPr lang="en-US" sz="2000" dirty="0">
                <a:latin typeface="system-ui"/>
              </a:rPr>
              <a:t>D</a:t>
            </a:r>
            <a:r>
              <a:rPr lang="en-US" sz="2000" b="0" i="0" dirty="0">
                <a:effectLst/>
                <a:latin typeface="system-ui"/>
              </a:rPr>
              <a:t>o some exploratory data analysis to figure out which variables have direct and clear impact on employee retention (i.e. whether they leave the company or continue to work)</a:t>
            </a:r>
          </a:p>
          <a:p>
            <a:pPr algn="l">
              <a:buFont typeface="+mj-lt"/>
              <a:buAutoNum type="arabicPeriod"/>
            </a:pPr>
            <a:r>
              <a:rPr lang="en-US" sz="2000" b="0" i="0" dirty="0">
                <a:effectLst/>
                <a:latin typeface="system-ui"/>
              </a:rPr>
              <a:t>Plot bar charts showing impact of employee salaries on retention</a:t>
            </a:r>
          </a:p>
          <a:p>
            <a:pPr algn="l">
              <a:buFont typeface="+mj-lt"/>
              <a:buAutoNum type="arabicPeriod"/>
            </a:pPr>
            <a:r>
              <a:rPr lang="en-US" sz="2000" b="0" i="0" dirty="0">
                <a:effectLst/>
                <a:latin typeface="system-ui"/>
              </a:rPr>
              <a:t>Plot bar charts showing </a:t>
            </a:r>
            <a:r>
              <a:rPr lang="en-US" sz="2000" b="0" i="0" dirty="0" err="1">
                <a:effectLst/>
                <a:latin typeface="system-ui"/>
              </a:rPr>
              <a:t>corelation</a:t>
            </a:r>
            <a:r>
              <a:rPr lang="en-US" sz="2000" b="0" i="0" dirty="0">
                <a:effectLst/>
                <a:latin typeface="system-ui"/>
              </a:rPr>
              <a:t> between department and employee retention</a:t>
            </a:r>
          </a:p>
          <a:p>
            <a:pPr algn="l">
              <a:buFont typeface="+mj-lt"/>
              <a:buAutoNum type="arabicPeriod"/>
            </a:pPr>
            <a:r>
              <a:rPr lang="en-US" sz="2000" dirty="0">
                <a:latin typeface="system-ui"/>
              </a:rPr>
              <a:t> B</a:t>
            </a:r>
            <a:r>
              <a:rPr lang="en-US" sz="2000" b="0" i="0" dirty="0">
                <a:effectLst/>
                <a:latin typeface="system-ui"/>
              </a:rPr>
              <a:t>uild logistic regression model using variables that were narrowed down in step 1</a:t>
            </a:r>
          </a:p>
          <a:p>
            <a:pPr algn="l">
              <a:buFont typeface="+mj-lt"/>
              <a:buAutoNum type="arabicPeriod"/>
            </a:pPr>
            <a:r>
              <a:rPr lang="en-US" sz="2000" b="0" i="0" dirty="0">
                <a:effectLst/>
                <a:latin typeface="system-ui"/>
              </a:rPr>
              <a:t>Measure the accuracy of the model</a:t>
            </a:r>
          </a:p>
          <a:p>
            <a:pPr marL="0" indent="0">
              <a:buNone/>
            </a:pPr>
            <a:endParaRPr lang="en-US" sz="2000" dirty="0">
              <a:solidFill>
                <a:srgbClr val="404040"/>
              </a:solidFill>
              <a:latin typeface="Inter"/>
            </a:endParaRPr>
          </a:p>
          <a:p>
            <a:pPr marL="0" indent="0">
              <a:buNone/>
            </a:pPr>
            <a:endParaRPr lang="en-US" sz="2000" dirty="0">
              <a:solidFill>
                <a:srgbClr val="404040"/>
              </a:solidFill>
              <a:latin typeface="Inter"/>
            </a:endParaRPr>
          </a:p>
          <a:p>
            <a:pPr marL="0" indent="0">
              <a:buNone/>
            </a:pPr>
            <a:endParaRPr lang="en-US" sz="2000" b="0" i="0" dirty="0">
              <a:effectLst/>
              <a:latin typeface="system-ui"/>
            </a:endParaRPr>
          </a:p>
        </p:txBody>
      </p:sp>
    </p:spTree>
    <p:extLst>
      <p:ext uri="{BB962C8B-B14F-4D97-AF65-F5344CB8AC3E}">
        <p14:creationId xmlns:p14="http://schemas.microsoft.com/office/powerpoint/2010/main" val="1850762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5E56D-0A98-46F2-B14A-9713528DA360}"/>
              </a:ext>
            </a:extLst>
          </p:cNvPr>
          <p:cNvSpPr>
            <a:spLocks noGrp="1"/>
          </p:cNvSpPr>
          <p:nvPr>
            <p:ph type="title"/>
          </p:nvPr>
        </p:nvSpPr>
        <p:spPr/>
        <p:txBody>
          <a:bodyPr/>
          <a:lstStyle/>
          <a:p>
            <a:r>
              <a:rPr lang="en-US" dirty="0"/>
              <a:t>To Do: Implementation – Logistic Regression (Multiclass Classification)</a:t>
            </a:r>
            <a:endParaRPr lang="en-IN" dirty="0"/>
          </a:p>
        </p:txBody>
      </p:sp>
      <p:sp>
        <p:nvSpPr>
          <p:cNvPr id="3" name="Content Placeholder 2">
            <a:extLst>
              <a:ext uri="{FF2B5EF4-FFF2-40B4-BE49-F238E27FC236}">
                <a16:creationId xmlns:a16="http://schemas.microsoft.com/office/drawing/2014/main" id="{ED1622C3-4F16-4547-BFC8-56BC1BF3AAC7}"/>
              </a:ext>
            </a:extLst>
          </p:cNvPr>
          <p:cNvSpPr>
            <a:spLocks noGrp="1"/>
          </p:cNvSpPr>
          <p:nvPr>
            <p:ph idx="1"/>
          </p:nvPr>
        </p:nvSpPr>
        <p:spPr/>
        <p:txBody>
          <a:bodyPr>
            <a:normAutofit/>
          </a:bodyPr>
          <a:lstStyle/>
          <a:p>
            <a:pPr marL="0" indent="0">
              <a:buNone/>
            </a:pPr>
            <a:r>
              <a:rPr lang="en-US" sz="2000" dirty="0">
                <a:solidFill>
                  <a:srgbClr val="404040"/>
                </a:solidFill>
                <a:latin typeface="Inter"/>
              </a:rPr>
              <a:t>Write Python code to implement the following. Consider dataset file “zoo-data.csv” to </a:t>
            </a:r>
            <a:r>
              <a:rPr lang="en-US" sz="2000" dirty="0" err="1">
                <a:solidFill>
                  <a:srgbClr val="404040"/>
                </a:solidFill>
                <a:latin typeface="Inter"/>
              </a:rPr>
              <a:t>predi</a:t>
            </a:r>
            <a:r>
              <a:rPr lang="en-US" sz="2000" dirty="0">
                <a:solidFill>
                  <a:srgbClr val="404040"/>
                </a:solidFill>
                <a:latin typeface="Inter"/>
              </a:rPr>
              <a:t> . Details of class type is provided in “zoo-</a:t>
            </a:r>
            <a:r>
              <a:rPr lang="en-IN" sz="1800" b="0" i="0" u="none" strike="noStrike" dirty="0" err="1">
                <a:solidFill>
                  <a:srgbClr val="000000"/>
                </a:solidFill>
                <a:effectLst/>
                <a:latin typeface="Calibri" panose="020F0502020204030204" pitchFamily="34" charset="0"/>
              </a:rPr>
              <a:t>class_type</a:t>
            </a:r>
            <a:r>
              <a:rPr lang="en-IN" sz="1400" dirty="0"/>
              <a:t> </a:t>
            </a:r>
            <a:r>
              <a:rPr lang="en-US" sz="2000" dirty="0">
                <a:solidFill>
                  <a:srgbClr val="404040"/>
                </a:solidFill>
                <a:latin typeface="Inter"/>
              </a:rPr>
              <a:t>.csv”</a:t>
            </a:r>
          </a:p>
          <a:p>
            <a:pPr algn="l">
              <a:buFont typeface="+mj-lt"/>
              <a:buAutoNum type="arabicPeriod"/>
            </a:pPr>
            <a:r>
              <a:rPr lang="en-US" sz="2000" dirty="0">
                <a:latin typeface="system-ui"/>
              </a:rPr>
              <a:t>If require apply necessary data preprocessing.</a:t>
            </a:r>
          </a:p>
          <a:p>
            <a:pPr algn="l">
              <a:buFont typeface="+mj-lt"/>
              <a:buAutoNum type="arabicPeriod"/>
            </a:pPr>
            <a:r>
              <a:rPr lang="en-US" sz="2000" dirty="0">
                <a:latin typeface="system-ui"/>
              </a:rPr>
              <a:t>B</a:t>
            </a:r>
            <a:r>
              <a:rPr lang="en-US" sz="2000" b="0" i="0" dirty="0">
                <a:effectLst/>
                <a:latin typeface="system-ui"/>
              </a:rPr>
              <a:t>uild logistic regression model to predict “</a:t>
            </a:r>
            <a:r>
              <a:rPr lang="en-US" sz="2000" b="0" i="0" dirty="0" err="1">
                <a:effectLst/>
                <a:latin typeface="system-ui"/>
              </a:rPr>
              <a:t>class_type</a:t>
            </a:r>
            <a:r>
              <a:rPr lang="en-US" sz="2000" b="0" i="0" dirty="0">
                <a:effectLst/>
                <a:latin typeface="system-ui"/>
              </a:rPr>
              <a:t>”</a:t>
            </a:r>
          </a:p>
          <a:p>
            <a:pPr algn="l">
              <a:buFont typeface="+mj-lt"/>
              <a:buAutoNum type="arabicPeriod"/>
            </a:pPr>
            <a:r>
              <a:rPr lang="en-US" sz="2000" b="0" i="0" dirty="0">
                <a:effectLst/>
                <a:latin typeface="system-ui"/>
              </a:rPr>
              <a:t>Measure the accuracy of the model</a:t>
            </a:r>
          </a:p>
          <a:p>
            <a:pPr algn="l">
              <a:buFont typeface="+mj-lt"/>
              <a:buAutoNum type="arabicPeriod"/>
            </a:pPr>
            <a:r>
              <a:rPr lang="en-US" sz="2000" dirty="0">
                <a:latin typeface="system-ui"/>
              </a:rPr>
              <a:t>Plot the confusion matrix</a:t>
            </a:r>
            <a:endParaRPr lang="en-US" sz="2000" b="0" i="0" dirty="0">
              <a:effectLst/>
              <a:latin typeface="system-ui"/>
            </a:endParaRPr>
          </a:p>
          <a:p>
            <a:pPr marL="0" indent="0">
              <a:buNone/>
            </a:pPr>
            <a:endParaRPr lang="en-US" sz="2000" dirty="0">
              <a:solidFill>
                <a:srgbClr val="404040"/>
              </a:solidFill>
              <a:latin typeface="Inter"/>
            </a:endParaRPr>
          </a:p>
          <a:p>
            <a:pPr marL="0" indent="0">
              <a:buNone/>
            </a:pPr>
            <a:endParaRPr lang="en-US" sz="2000" dirty="0">
              <a:solidFill>
                <a:srgbClr val="404040"/>
              </a:solidFill>
              <a:latin typeface="Inter"/>
            </a:endParaRPr>
          </a:p>
          <a:p>
            <a:pPr marL="0" indent="0">
              <a:buNone/>
            </a:pPr>
            <a:endParaRPr lang="en-US" sz="2000" b="0" i="0" dirty="0">
              <a:effectLst/>
              <a:latin typeface="system-ui"/>
            </a:endParaRPr>
          </a:p>
        </p:txBody>
      </p:sp>
    </p:spTree>
    <p:extLst>
      <p:ext uri="{BB962C8B-B14F-4D97-AF65-F5344CB8AC3E}">
        <p14:creationId xmlns:p14="http://schemas.microsoft.com/office/powerpoint/2010/main" val="3413968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7F1A7-B14E-4260-AE37-544729E16183}"/>
              </a:ext>
            </a:extLst>
          </p:cNvPr>
          <p:cNvSpPr>
            <a:spLocks noGrp="1"/>
          </p:cNvSpPr>
          <p:nvPr>
            <p:ph type="title"/>
          </p:nvPr>
        </p:nvSpPr>
        <p:spPr/>
        <p:txBody>
          <a:bodyPr/>
          <a:lstStyle/>
          <a:p>
            <a:r>
              <a:rPr lang="en-US" dirty="0"/>
              <a:t>To Upload to </a:t>
            </a:r>
            <a:r>
              <a:rPr lang="en-US" dirty="0" err="1"/>
              <a:t>Github</a:t>
            </a:r>
            <a:endParaRPr lang="en-IN" dirty="0"/>
          </a:p>
        </p:txBody>
      </p:sp>
      <p:sp>
        <p:nvSpPr>
          <p:cNvPr id="3" name="Content Placeholder 2">
            <a:extLst>
              <a:ext uri="{FF2B5EF4-FFF2-40B4-BE49-F238E27FC236}">
                <a16:creationId xmlns:a16="http://schemas.microsoft.com/office/drawing/2014/main" id="{CD65A1EA-7FE4-4B44-864D-43DFFCA8CAC2}"/>
              </a:ext>
            </a:extLst>
          </p:cNvPr>
          <p:cNvSpPr>
            <a:spLocks noGrp="1"/>
          </p:cNvSpPr>
          <p:nvPr>
            <p:ph idx="1"/>
          </p:nvPr>
        </p:nvSpPr>
        <p:spPr/>
        <p:txBody>
          <a:bodyPr/>
          <a:lstStyle/>
          <a:p>
            <a:r>
              <a:rPr lang="en-US" dirty="0"/>
              <a:t>In your </a:t>
            </a:r>
            <a:r>
              <a:rPr lang="en-US" dirty="0" err="1"/>
              <a:t>github</a:t>
            </a:r>
            <a:r>
              <a:rPr lang="en-US" dirty="0"/>
              <a:t> account create folder “6thSem-ML-Lab” and upload  your python notebook worked on Linear and Multi Linear regression </a:t>
            </a:r>
            <a:r>
              <a:rPr lang="en-US" dirty="0" err="1"/>
              <a:t>modelss</a:t>
            </a:r>
            <a:r>
              <a:rPr lang="en-US" dirty="0"/>
              <a:t> with file name as “</a:t>
            </a:r>
            <a:r>
              <a:rPr lang="en-US" dirty="0">
                <a:solidFill>
                  <a:srgbClr val="0000CC"/>
                </a:solidFill>
              </a:rPr>
              <a:t>yourUSN</a:t>
            </a:r>
            <a:r>
              <a:rPr lang="en-US" dirty="0"/>
              <a:t>_Lab-3-Logistic-Regression. </a:t>
            </a:r>
            <a:r>
              <a:rPr lang="en-US" dirty="0" err="1"/>
              <a:t>ipynb</a:t>
            </a:r>
            <a:r>
              <a:rPr lang="en-US" dirty="0"/>
              <a:t>”</a:t>
            </a:r>
            <a:endParaRPr lang="en-IN" dirty="0"/>
          </a:p>
          <a:p>
            <a:endParaRPr lang="en-IN" dirty="0"/>
          </a:p>
        </p:txBody>
      </p:sp>
    </p:spTree>
    <p:extLst>
      <p:ext uri="{BB962C8B-B14F-4D97-AF65-F5344CB8AC3E}">
        <p14:creationId xmlns:p14="http://schemas.microsoft.com/office/powerpoint/2010/main" val="624798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9A102-B666-434F-AFAC-EDAC9DFBA3E4}"/>
              </a:ext>
            </a:extLst>
          </p:cNvPr>
          <p:cNvSpPr>
            <a:spLocks noGrp="1"/>
          </p:cNvSpPr>
          <p:nvPr>
            <p:ph type="title"/>
          </p:nvPr>
        </p:nvSpPr>
        <p:spPr/>
        <p:txBody>
          <a:bodyPr/>
          <a:lstStyle/>
          <a:p>
            <a:r>
              <a:rPr lang="en-US" dirty="0"/>
              <a:t>To write in the Observation Book</a:t>
            </a:r>
            <a:endParaRPr lang="en-IN" dirty="0"/>
          </a:p>
        </p:txBody>
      </p:sp>
      <p:sp>
        <p:nvSpPr>
          <p:cNvPr id="3" name="Content Placeholder 2">
            <a:extLst>
              <a:ext uri="{FF2B5EF4-FFF2-40B4-BE49-F238E27FC236}">
                <a16:creationId xmlns:a16="http://schemas.microsoft.com/office/drawing/2014/main" id="{05B8AA28-0D17-407A-86E4-F0D0224907A3}"/>
              </a:ext>
            </a:extLst>
          </p:cNvPr>
          <p:cNvSpPr>
            <a:spLocks noGrp="1"/>
          </p:cNvSpPr>
          <p:nvPr>
            <p:ph idx="1"/>
          </p:nvPr>
        </p:nvSpPr>
        <p:spPr/>
        <p:txBody>
          <a:bodyPr>
            <a:normAutofit/>
          </a:bodyPr>
          <a:lstStyle/>
          <a:p>
            <a:pPr marL="0" indent="0" algn="just">
              <a:buNone/>
            </a:pPr>
            <a:r>
              <a:rPr lang="en-US" sz="1600" dirty="0"/>
              <a:t>After building the Logistic regression models, write the answer for the following questions in your observation book</a:t>
            </a:r>
          </a:p>
          <a:p>
            <a:pPr marL="0" indent="0" algn="just">
              <a:buNone/>
            </a:pPr>
            <a:r>
              <a:rPr lang="en-IN" sz="1600" dirty="0"/>
              <a:t>1. For dataset file “</a:t>
            </a:r>
            <a:r>
              <a:rPr lang="en-US" sz="1600" dirty="0">
                <a:solidFill>
                  <a:srgbClr val="404040"/>
                </a:solidFill>
                <a:latin typeface="Inter"/>
              </a:rPr>
              <a:t>HR_comma_sep.csv”</a:t>
            </a:r>
          </a:p>
          <a:p>
            <a:pPr marL="0" indent="0" algn="just">
              <a:buNone/>
            </a:pPr>
            <a:r>
              <a:rPr lang="en-US" sz="1600" b="0" i="0" dirty="0" err="1">
                <a:solidFill>
                  <a:srgbClr val="404040"/>
                </a:solidFill>
                <a:effectLst/>
                <a:latin typeface="Inter"/>
              </a:rPr>
              <a:t>i</a:t>
            </a:r>
            <a:r>
              <a:rPr lang="en-US" sz="1600" b="0" i="0" dirty="0">
                <a:solidFill>
                  <a:srgbClr val="404040"/>
                </a:solidFill>
                <a:effectLst/>
                <a:latin typeface="Inter"/>
              </a:rPr>
              <a:t>. Which variables did you identify as having a direct and clear impact on employee retention? Why?</a:t>
            </a:r>
          </a:p>
          <a:p>
            <a:pPr marL="0" indent="0" algn="just">
              <a:buNone/>
            </a:pPr>
            <a:r>
              <a:rPr lang="en-IN" sz="1600" dirty="0"/>
              <a:t>ii. </a:t>
            </a:r>
            <a:r>
              <a:rPr lang="en-US" sz="1600" b="0" i="0" dirty="0">
                <a:solidFill>
                  <a:srgbClr val="404040"/>
                </a:solidFill>
                <a:effectLst/>
                <a:latin typeface="Inter"/>
              </a:rPr>
              <a:t>What was the accuracy of your logistic regression model? Do you think this is a good accuracy? Why or why not?</a:t>
            </a:r>
          </a:p>
          <a:p>
            <a:pPr marL="0" indent="0" algn="just">
              <a:buNone/>
            </a:pPr>
            <a:r>
              <a:rPr lang="en-IN" sz="1600" dirty="0"/>
              <a:t>2. For Zoo dataset</a:t>
            </a:r>
          </a:p>
          <a:p>
            <a:pPr marL="0" indent="0" algn="just">
              <a:buNone/>
            </a:pPr>
            <a:r>
              <a:rPr lang="en-IN" sz="1600" dirty="0" err="1"/>
              <a:t>i</a:t>
            </a:r>
            <a:r>
              <a:rPr lang="en-IN" sz="1600" dirty="0"/>
              <a:t>. </a:t>
            </a:r>
            <a:r>
              <a:rPr lang="en-US" sz="1600" dirty="0"/>
              <a:t>Did you perform any data preprocessing steps? If yes, what were they, and why were they necessary?</a:t>
            </a:r>
          </a:p>
          <a:p>
            <a:pPr marL="0" indent="0" algn="just">
              <a:buNone/>
            </a:pPr>
            <a:r>
              <a:rPr lang="en-US" sz="1600" dirty="0"/>
              <a:t>ii. Were there any missing or inconsistent values in the dataset? How did you handle them?</a:t>
            </a:r>
          </a:p>
          <a:p>
            <a:pPr marL="0" indent="0" algn="just">
              <a:buNone/>
            </a:pPr>
            <a:r>
              <a:rPr lang="en-US" sz="1600" dirty="0"/>
              <a:t>iii. What does the confusion matrix tell you about the performance of your model?</a:t>
            </a:r>
          </a:p>
          <a:p>
            <a:pPr marL="0" indent="0" algn="just">
              <a:buNone/>
            </a:pPr>
            <a:r>
              <a:rPr lang="en-US" sz="1600"/>
              <a:t>iv. Which </a:t>
            </a:r>
            <a:r>
              <a:rPr lang="en-US" sz="1600" dirty="0"/>
              <a:t>class types were most frequently misclassified? Why do you think this happened?</a:t>
            </a:r>
            <a:endParaRPr lang="en-IN" sz="1600" dirty="0"/>
          </a:p>
        </p:txBody>
      </p:sp>
    </p:spTree>
    <p:extLst>
      <p:ext uri="{BB962C8B-B14F-4D97-AF65-F5344CB8AC3E}">
        <p14:creationId xmlns:p14="http://schemas.microsoft.com/office/powerpoint/2010/main" val="2903675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1012</Words>
  <Application>Microsoft Office PowerPoint</Application>
  <PresentationFormat>Widescreen</PresentationFormat>
  <Paragraphs>100</Paragraphs>
  <Slides>11</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Light</vt:lpstr>
      <vt:lpstr>Inter</vt:lpstr>
      <vt:lpstr>KaTeX_Main</vt:lpstr>
      <vt:lpstr>system-ui</vt:lpstr>
      <vt:lpstr>Times New Roman</vt:lpstr>
      <vt:lpstr>Office Theme</vt:lpstr>
      <vt:lpstr>Lab-3</vt:lpstr>
      <vt:lpstr>Logistic Regression</vt:lpstr>
      <vt:lpstr>Sigmoid vs Softmax Activation function</vt:lpstr>
      <vt:lpstr>To write in Observation Book</vt:lpstr>
      <vt:lpstr>Confusion Matrix</vt:lpstr>
      <vt:lpstr>Confusion Matrix - Example</vt:lpstr>
      <vt:lpstr>Implementation</vt:lpstr>
      <vt:lpstr>To Do: Implementation – Logistic Regression (Binary Classification)</vt:lpstr>
      <vt:lpstr>To Do: Implementation – Logistic Regression (Multiclass Classification)</vt:lpstr>
      <vt:lpstr>To Upload to Github</vt:lpstr>
      <vt:lpstr>To write in the Observation Book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Lab-2</dc:title>
  <dc:creator>BMSCECSE</dc:creator>
  <cp:lastModifiedBy>BMSCECSE</cp:lastModifiedBy>
  <cp:revision>23</cp:revision>
  <dcterms:created xsi:type="dcterms:W3CDTF">2025-03-06T04:01:53Z</dcterms:created>
  <dcterms:modified xsi:type="dcterms:W3CDTF">2025-03-13T10:21:51Z</dcterms:modified>
</cp:coreProperties>
</file>